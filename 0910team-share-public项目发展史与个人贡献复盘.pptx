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0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notesMaster" Target="notesMasters/notesMaster1.xml" 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Relationship Id="rId2" Type="http://schemas.openxmlformats.org/officeDocument/2006/relationships/image" Target="media/image13.png" /><Relationship Id="rId3" Type="http://schemas.openxmlformats.org/officeDocument/2006/relationships/image" Target="media/image14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6.png" /><Relationship Id="rId1" Type="http://schemas.openxmlformats.org/officeDocument/2006/relationships/image" Target="media/image15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8.png" /><Relationship Id="rId1" Type="http://schemas.openxmlformats.org/officeDocument/2006/relationships/image" Target="media/image7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4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Relationship Id="rId2" Type="http://schemas.openxmlformats.org/officeDocument/2006/relationships/image" Target="media/image6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8.png" /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Relationship Id="rId2" Type="http://schemas.openxmlformats.org/officeDocument/2006/relationships/image" Target="media/image11.pn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absolute', top: 200, left: 64, width: 6, height: 220, background: '#D99B2B' }} /&gt;&#10;&#10;  &lt;Box style={{ position: 'relative', zIndex: 1, flexDirection: 'row', height: 640, gap: 48 }}&gt;&#10;&#10;    &lt;Box style={{ width: 700, flexDirection: 'column', justifyContent: 'space-between' }}&gt;&#10;      &lt;Box style={{ flexDirection: 'column' }}&gt;&#10;        &lt;Text style={{ fontSize: 13, color: '#D99B2B', letterSpacing: 3 }}&gt;TEAM-SHARE-PUBLIC · 项目复盘&lt;/Text&gt;&#10;        &lt;Text style={{ fontSize: 76, fontWeight: 'bold', color: '#F7F4EC', lineHeight: 1.18, marginTop: 26 }}&gt;&#10;          项目发展史与&lt;br /&gt;个人贡献复盘&#10;        &lt;/Text&gt;&#10;        &lt;Text style={{ fontSize: 21, color: 'rgba(247,244,236,0.68)', lineHeight: 1.6, marginTop: 24 }}&gt;&#10;          从一个公开分享站点，长成 5 大技术主题的工程知识库&#10;        &lt;/Text&gt;&#10;      &lt;/Box&gt;&#10;&#10;      &lt;Box style={{ flexDirection: 'column' }}&gt;&#10;        &lt;Box style={{ width: 88, height: 3, background: '#D99B2B', marginBottom: 20 }} /&gt;&#10;        &lt;Box style={{ flexDirection: 'row', gap: 40 }}&gt;&#10;          &lt;Box style={{ flexDirection: 'column' }}&gt;&#10;            &lt;Text style={{ fontSize: 13, color: 'rgba(247,244,236,0.5)', letterSpacing: 1 }}&gt;时间跨度&lt;/Text&gt;&#10;            &lt;Text style={{ fontSize: 17, color: '#F7F4EC', fontFamily: '&quot;Consolas&quot;, &quot;JetBrains Mono&quot;, monospace', marginTop: 6 }}&gt;2026-07-13 → 09-09&lt;/Text&gt;&#10;          &lt;/Box&gt;&#10;          &lt;Box style={{ flexDirection: 'column' }}&gt;&#10;            &lt;Text style={{ fontSize: 13, color: 'rgba(247,244,236,0.5)', letterSpacing: 1 }}&gt;提交记录&lt;/Text&gt;&#10;            &lt;Text style={{ fontSize: 17, color: '#F7F4EC', fontFamily: '&quot;Consolas&quot;, &quot;JetBrains Mono&quot;, monospace', marginTop: 6 }}&gt;261 commits&lt;/Text&gt;&#10;          &lt;/Box&gt;&#10;          &lt;Box style={{ flexDirection: 'column' }}&gt;&#10;            &lt;Text style={{ fontSize: 13, color: 'rgba(247,244,236,0.5)', letterSpacing: 1 }}&gt;作者&lt;/Text&gt;&#10;            &lt;Text style={{ fontSize: 17, color: '#F7F4EC', fontFamily: '&quot;Consolas&quot;, &quot;JetBrains Mono&quot;, monospace', marginTop: 6 }}&gt;ymzhuuuu&lt;/Text&gt;&#10;          &lt;/Box&gt;&#10;        &lt;/Box&gt;&#10;      &lt;/Box&gt;&#10;    &lt;/Box&gt;&#10;&#10;    &lt;Box style={{ flex: 1, flexDirection: 'column', justifyContent: 'center', alignItems: 'flex-end' }}&gt;&#10;      &lt;Text style={{ fontSize: 120, fontWeight: 'bold', color: '#D99B2B', fontFamily: '&quot;Consolas&quot;, &quot;JetBrains Mono&quot;, monospace', lineHeight: 1.0 }}&gt;261&lt;/Text&gt;&#10;      &lt;Text style={{ fontSize: 17, color: 'rgba(247,244,236,0.72)', marginTop: 10, letterSpacing: 1 }}&gt;次提交 · 58 个活跃开发日&lt;/Text&gt;&#10;&#10;      &lt;Box style={{ width: 300, height: 1, background: 'rgba(217,155,43,0.4)', marginTop: 34, marginBottom: 30 }} /&gt;&#10;&#10;      &lt;Box style={{ flexDirection: 'column', gap: 18, alignItems: 'flex-end' }}&gt;&#10;        &lt;Box style={{ flexDirection: 'row', alignItems: 'baseline', gap: 12 }}&gt;&#10;          &lt;Text style={{ fontSize: 30, fontWeight: 'bold', color: '#F7F4EC', fontFamily: '&quot;Consolas&quot;, &quot;JetBrains Mono&quot;, monospace' }}&gt;5&lt;/Text&gt;&#10;          &lt;Text style={{ fontSize: 15, color: 'rgba(247,244,236,0.66)' }}&gt;大技术主题&lt;/Text&gt;&#10;        &lt;/Box&gt;&#10;        &lt;Box style={{ flexDirection: 'row', alignItems: 'baseline', gap: 12 }}&gt;&#10;          &lt;Text style={{ fontSize: 30, fontWeight: 'bold', color: '#F7F4EC', fontFamily: '&quot;Consolas&quot;, &quot;JetBrains Mono&quot;, monospace' }}&gt;50&lt;/Text&gt;&#10;          &lt;Text style={{ fontSize: 15, color: 'rgba(247,244,236,0.66)' }}&gt;个内容页面&lt;/Text&gt;&#10;        &lt;/Box&gt;&#10;        &lt;Box style={{ flexDirection: 'row', alignItems: 'baseline', gap: 12 }}&gt;&#10;          &lt;Text style={{ fontSize: 30, fontWeight: 'bold', color: '#F7F4EC', fontFamily: '&quot;Consolas&quot;, &quot;JetBrains Mono&quot;, monospace' }}&gt;2201&lt;/Text&gt;&#10;          &lt;Text style={{ fontSize: 15, color: 'rgba(247,244,236,0.66)' }}&gt;个仓库文件&lt;/Text&gt;&#10;        &lt;/Box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1905000"/>
            <a:ext cx="57150" cy="209550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975" spc="225">
                <a:solidFill>
                  <a:srgbClr val="D99B2B"/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781050"/>
            <a:ext cx="66675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7F4EC"/>
                </a:solidFill>
                <a:latin typeface="Microsoft YaHei"/>
                <a:ea typeface="Microsoft YaHei"/>
              </a:rPr>
              <a:t>项目发展史与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7F4EC"/>
                </a:solidFill>
                <a:latin typeface="Microsoft YaHei"/>
                <a:ea typeface="Microsoft YaHei"/>
              </a:rPr>
              <a:t>个人贡献复盘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067050"/>
            <a:ext cx="6667500" cy="390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从一个公开分享站点，长成</a:t>
            </a:r>
            <a:r>
              <a:rPr lang="en-US" sz="157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575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大技术主题的工程知识库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5848350"/>
            <a:ext cx="838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0674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50000"/>
                  </a:srgbClr>
                </a:solidFill>
                <a:latin typeface="Microsoft YaHei"/>
                <a:ea typeface="Microsoft YaHei"/>
              </a:rPr>
              <a:t>时间跨度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6276975"/>
            <a:ext cx="1609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7F4EC"/>
                </a:solidFill>
                <a:latin typeface="Consolas"/>
                <a:ea typeface="Consolas"/>
              </a:rPr>
              <a:t>2026-07-13 → 09-09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600325" y="6067425"/>
            <a:ext cx="981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50000"/>
                  </a:srgbClr>
                </a:solidFill>
                <a:latin typeface="Microsoft YaHei"/>
                <a:ea typeface="Microsoft YaHei"/>
              </a:rPr>
              <a:t>提交记录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600325" y="6276975"/>
            <a:ext cx="981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7F4EC"/>
                </a:solidFill>
                <a:latin typeface="Consolas"/>
                <a:ea typeface="Consolas"/>
              </a:rPr>
              <a:t>261 commits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962400" y="6067425"/>
            <a:ext cx="714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50000"/>
                  </a:srgbClr>
                </a:solidFill>
                <a:latin typeface="Microsoft YaHei"/>
                <a:ea typeface="Microsoft YaHei"/>
              </a:rPr>
              <a:t>作者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962400" y="6276975"/>
            <a:ext cx="714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F7F4EC"/>
                </a:solidFill>
                <a:latin typeface="Consolas"/>
                <a:ea typeface="Consolas"/>
              </a:rPr>
              <a:t>ymzhuuuu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9696450" y="1600200"/>
            <a:ext cx="18859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D99B2B"/>
                </a:solidFill>
                <a:latin typeface="Consolas"/>
                <a:ea typeface="Consolas"/>
              </a:rPr>
              <a:t>261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9601200" y="3067050"/>
            <a:ext cx="1981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次提交</a:t>
            </a:r>
            <a:r>
              <a:rPr lang="en-US" sz="1275" spc="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· 58 </a:t>
            </a:r>
            <a:r>
              <a:rPr lang="zh-CN" sz="1275" spc="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个活跃开发日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724900" y="3590925"/>
            <a:ext cx="2857500" cy="9525"/>
          </a:xfrm>
          <a:prstGeom prst="rect">
            <a:avLst/>
          </a:prstGeom>
          <a:solidFill>
            <a:srgbClr val="D99B2B">
              <a:alpha val="40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591800" y="3886200"/>
            <a:ext cx="161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7F4EC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868025" y="388620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66000"/>
                  </a:srgbClr>
                </a:solidFill>
                <a:latin typeface="Microsoft YaHei"/>
                <a:ea typeface="Microsoft YaHei"/>
              </a:rPr>
              <a:t>大技术主题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439400" y="4400550"/>
            <a:ext cx="314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7F4EC"/>
                </a:solidFill>
                <a:latin typeface="Consolas"/>
                <a:ea typeface="Consolas"/>
              </a:rPr>
              <a:t>50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868025" y="440055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66000"/>
                  </a:srgbClr>
                </a:solidFill>
                <a:latin typeface="Microsoft YaHei"/>
                <a:ea typeface="Microsoft YaHei"/>
              </a:rPr>
              <a:t>个内容页面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125075" y="4914900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7F4EC"/>
                </a:solidFill>
                <a:latin typeface="Consolas"/>
                <a:ea typeface="Consolas"/>
              </a:rPr>
              <a:t>2201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68025" y="4914900"/>
            <a:ext cx="7143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66000"/>
                  </a:srgbClr>
                </a:solidFill>
                <a:latin typeface="Microsoft YaHei"/>
                <a:ea typeface="Microsoft YaHei"/>
              </a:rPr>
              <a:t>个仓库文件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5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ONTENTS · 五章结构&lt;/Text&gt;&#10;        &lt;Text style={{ fontSize: 34, fontWeight: 'bold', color: '#0F2438', lineHeight: 1.3, marginTop: 4 }}&gt;目录&lt;/Text&gt;&#10;      &lt;/Box&gt;&#10;      &lt;Text style={{ fontSize: 14, color: 'rgba(15,36,56,0.5)', fontFamily: '&quot;Consolas&quot;, &quot;JetBrains Mono&quot;, monospace', marginTop: 22 }}&gt;02 / 19&lt;/Text&gt;&#10;    &lt;/Box&gt;&#10;&#10;    &lt;Box style={{ height: 510, flexDirection: 'row', gap: 30, marginTop: 14 }}&gt;&#10;&#10;      &lt;Box style={{ width: 336, background: '#0F2438', borderRadius: 12, padding: 30, flexDirection: 'column', justifyContent: 'space-between' }}&gt;&#10;        &lt;Box style={{ flexDirection: 'column' }}&gt;&#10;          &lt;Box style={{ width: 48, height: 3, background: '#D99B2B', marginBottom: 22 }} /&gt;&#10;          &lt;Text style={{ fontSize: 19, color: '#F7F4EC', lineHeight: 1.65 }}&gt;&#10;            先看站点本身&lt;br /&gt;是怎么长起来的，&lt;br /&gt;再逐条拆开&lt;br /&gt;五大技术主线。&#10;          &lt;/Text&gt;&#10;        &lt;/Box&gt;&#10;        &lt;Box style={{ flexDirection: 'column' }}&gt;&#10;          &lt;Text style={{ fontSize: 14, color: 'rgba(247,244,236,0.58)', lineHeight: 1.6 }}&gt;&#10;            每条主线都给出可验证的产出物与数量，最后盘点可以被人直接复用的资产。&#10;          &lt;/Text&gt;&#10;          &lt;Box style={{ flexDirection: 'row', alignItems: 'baseline', gap: 10, marginTop: 20 }}&gt;&#10;            &lt;Text style={{ fontSize: 40, fontWeight: 'bold', color: '#D99B2B', fontFamily: '&quot;Consolas&quot;, &quot;JetBrains Mono&quot;, monospace', lineHeight: 1.0 }}&gt;5&lt;/Text&gt;&#10;            &lt;Text style={{ fontSize: 14, color: 'rgba(247,244,236,0.7)' }}&gt;章 · 17 个内容页&lt;/Text&gt;&#10;          &lt;/Box&gt;&#10;        &lt;/Box&gt;&#10;      &lt;/Box&gt;&#10;&#10;      &lt;Box style={{ flex: 1, flexDirection: 'column', justifyContent: 'space-between' }}&gt;&#10;&#10;        &lt;Box style={{ flexDirection: 'row', alignItems: 'center', gap: 22, paddingBottom: 14, borderBottom: '1px solid rgba(15,36,56,0.18)' }}&gt;&#10;          &lt;Text style={{ fontSize: 24, fontWeight: 'bold', color: '#D99B2B', fontFamily: '&quot;Consolas&quot;, &quot;JetBrains Mono&quot;, monospace', width: 52 }}&gt;01&lt;/Text&gt;&#10;          &lt;Box style={{ flex: 1, flexDirection: 'column' }}&gt;&#10;            &lt;Text style={{ fontSize: 21, fontWeight: 'bold', color: '#0F2438' }}&gt;项目全景与演进脉络&lt;/Text&gt;&#10;            &lt;Text style={{ fontSize: 14, color: 'rgba(15,36,56,0.6)', marginTop: 5 }}&gt;三个月节奏 · 五条并行主线 · 站点从 1 篇到 5 大主题&lt;/Text&gt;&#10;          &lt;/Box&gt;&#10;          &lt;Text style={{ fontSize: 14, color: 'rgba(15,36,56,0.55)', fontFamily: '&quot;Consolas&quot;, &quot;JetBrains Mono&quot;, monospace' }}&gt;P03–P06&lt;/Text&gt;&#10;        &lt;/Box&gt;&#10;&#10;        &lt;Box style={{ flexDirection: 'row', alignItems: 'center', gap: 22, paddingBottom: 14, borderBottom: '1px solid rgba(15,36,56,0.18)' }}&gt;&#10;          &lt;Text style={{ fontSize: 24, fontWeight: 'bold', color: '#D99B2B', fontFamily: '&quot;Consolas&quot;, &quot;JetBrains Mono&quot;, monospace', width: 52 }}&gt;02&lt;/Text&gt;&#10;          &lt;Box style={{ flex: 1, flexDirection: 'column' }}&gt;&#10;            &lt;Text style={{ fontSize: 21, fontWeight: 'bold', color: '#0F2438' }}&gt;主题一 · 420b 长编码验证体系&lt;/Text&gt;&#10;            &lt;Text style={{ fontSize: 14, color: 'rgba(15,36,56,0.6)', marginTop: 5 }}&gt;从 8B/10B 重建环境 · 53 个 Case · 三条证据链定位根因&lt;/Text&gt;&#10;          &lt;/Box&gt;&#10;          &lt;Text style={{ fontSize: 14, color: 'rgba(15,36,56,0.55)', fontFamily: '&quot;Consolas&quot;, &quot;JetBrains Mono&quot;, monospace' }}&gt;P07–P09&lt;/Text&gt;&#10;        &lt;/Box&gt;&#10;&#10;        &lt;Box style={{ flexDirection: 'row', alignItems: 'center', gap: 22, paddingBottom: 14, borderBottom: '1px solid rgba(15,36,56,0.18)' }}&gt;&#10;          &lt;Text style={{ fontSize: 24, fontWeight: 'bold', color: '#D99B2B', fontFamily: '&quot;Consolas&quot;, &quot;JetBrains Mono&quot;, monospace', width: 52 }}&gt;03&lt;/Text&gt;&#10;          &lt;Box style={{ flex: 1, flexDirection: 'column' }}&gt;&#10;            &lt;Text style={{ fontSize: 21, fontWeight: 'bold', color: '#0F2438' }}&gt;主题二 · LC_CPUWR 代码修改全记录&lt;/Text&gt;&#10;            &lt;Text style={{ fontSize: 14, color: 'rgba(15,36,56,0.6)', marginTop: 5 }}&gt;五个月演进档案 · 10+ 归档版本 · 六张寄存器全景图&lt;/Text&gt;&#10;          &lt;/Box&gt;&#10;          &lt;Text style={{ fontSize: 14, color: 'rgba(15,36,56,0.55)', fontFamily: '&quot;Consolas&quot;, &quot;JetBrains Mono&quot;, monospace' }}&gt;P10–P12&lt;/Text&gt;&#10;        &lt;/Box&gt;&#10;&#10;        &lt;Box style={{ flexDirection: 'row', alignItems: 'center', gap: 22, paddingBottom: 14, borderBottom: '1px solid rgba(15,36,56,0.18)' }}&gt;&#10;          &lt;Text style={{ fontSize: 24, fontWeight: 'bold', color: '#D99B2B', fontFamily: '&quot;Consolas&quot;, &quot;JetBrains Mono&quot;, monospace', width: 52 }}&gt;04&lt;/Text&gt;&#10;          &lt;Box style={{ flex: 1, flexDirection: 'column' }}&gt;&#10;            &lt;Text style={{ fontSize: 21, fontWeight: 'bold', color: '#0F2438' }}&gt;主题三 · Synthesis &amp;amp; Integration Flow 指南&lt;/Text&gt;&#10;            &lt;Text style={{ fontSize: 14, color: 'rgba(15,36,56,0.6)', marginTop: 5 }}&gt;12 章节流程手册 · 39 条脚本字典 · 52 张实拍截图&lt;/Text&gt;&#10;          &lt;/Box&gt;&#10;          &lt;Text style={{ fontSize: 14, color: 'rgba(15,36,56,0.55)', fontFamily: '&quot;Consolas&quot;, &quot;JetBrains Mono&quot;, monospace' }}&gt;P13–P14&lt;/Text&gt;&#10;        &lt;/Box&gt;&#10;&#10;        &lt;Box style={{ flexDirection: 'row', alignItems: 'center', gap: 22 }}&gt;&#10;          &lt;Text style={{ fontSize: 24, fontWeight: 'bold', color: '#D99B2B', fontFamily: '&quot;Consolas&quot;, &quot;JetBrains Mono&quot;, monospace', width: 52 }}&gt;05&lt;/Text&gt;&#10;          &lt;Box style={{ flex: 1, flexDirection: 'column' }}&gt;&#10;            &lt;Text style={{ fontSize: 21, fontWeight: 'bold', color: '#0F2438' }}&gt;主题四与主题五 · 进阶设计实验室&lt;/Text&gt;&#10;            &lt;Text style={{ fontSize: 14, color: 'rgba(15,36,56,0.6)', marginTop: 5 }}&gt;Fusion Compiler 两天引入评估 · 1P/2P 时序约束方法论&lt;/Text&gt;&#10;          &lt;/Box&gt;&#10;          &lt;Text style={{ fontSize: 14, color: 'rgba(15,36,56,0.55)', fontFamily: '&quot;Consolas&quot;, &quot;JetBrains Mono&quot;, monospace' }}&gt;P15–P18&lt;/Text&gt;&#10;        &lt;/Box&gt;&#10;&#10;      &lt;/Box&gt;&#10;    &lt;/Box&gt;&#10;&#10;    &lt;Box style={{ height: 46, flexDirection: 'row', justifyContent: 'space-between', alignItems: 'flex-end', marginTop: 10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02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552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CONTENTS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五章结构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1552575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02 / 19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1181100"/>
            <a:ext cx="3200400" cy="4857750"/>
          </a:xfrm>
          <a:prstGeom prst="roundRect">
            <a:avLst>
              <a:gd name="adj" fmla="val 3571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895350" y="1466850"/>
            <a:ext cx="457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95350" y="1704975"/>
            <a:ext cx="2628900" cy="14382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先看站点本身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是怎么长起来的，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再逐条拆开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五大技术主线。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95350" y="4591050"/>
            <a:ext cx="2628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7F4EC">
                    <a:alpha val="58000"/>
                  </a:srgbClr>
                </a:solidFill>
                <a:latin typeface="Microsoft YaHei"/>
                <a:ea typeface="Microsoft YaHei"/>
              </a:rPr>
              <a:t>每条主线都给出可验证的产出物与数量，最后盘点可以被人直接复用的资产。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895350" y="5295900"/>
            <a:ext cx="2095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9B2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200150" y="5295900"/>
            <a:ext cx="981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章</a:t>
            </a:r>
            <a:r>
              <a:rPr lang="en-US" sz="1050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· 17 </a:t>
            </a:r>
            <a:r>
              <a:rPr lang="zh-CN" sz="1050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个内容页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4095750" y="1181100"/>
            <a:ext cx="7486650" cy="609600"/>
          </a:xfrm>
          <a:custGeom>
            <a:pathLst>
              <a:path w="786" h="64">
                <a:moveTo>
                  <a:pt x="0" y="63"/>
                </a:moveTo>
                <a:lnTo>
                  <a:pt x="786" y="63"/>
                </a:lnTo>
                <a:lnTo>
                  <a:pt x="786" y="64"/>
                </a:lnTo>
                <a:lnTo>
                  <a:pt x="0" y="64"/>
                </a:lnTo>
                <a:close/>
              </a:path>
            </a:pathLst>
          </a:custGeom>
          <a:solidFill>
            <a:srgbClr val="0F2438">
              <a:alpha val="18000"/>
            </a:srgbClr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4095750" y="12763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4800600" y="1181100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项目全景与演进脉络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800600" y="147637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三个月节奏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五条并行主线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站点从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1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篇到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大主题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1068050" y="133350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5000"/>
                  </a:srgbClr>
                </a:solidFill>
                <a:latin typeface="Consolas"/>
                <a:ea typeface="Consolas"/>
              </a:rPr>
              <a:t>P03–P06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4095750" y="2286000"/>
            <a:ext cx="7486650" cy="609600"/>
          </a:xfrm>
          <a:custGeom>
            <a:pathLst>
              <a:path w="786" h="64">
                <a:moveTo>
                  <a:pt x="0" y="63"/>
                </a:moveTo>
                <a:lnTo>
                  <a:pt x="786" y="63"/>
                </a:lnTo>
                <a:lnTo>
                  <a:pt x="786" y="64"/>
                </a:lnTo>
                <a:lnTo>
                  <a:pt x="0" y="64"/>
                </a:lnTo>
                <a:close/>
              </a:path>
            </a:pathLst>
          </a:custGeom>
          <a:solidFill>
            <a:srgbClr val="0F2438">
              <a:alpha val="18000"/>
            </a:srgbClr>
          </a:solidFill>
          <a:ln/>
        </p:spPr>
        <p:txBody>
          <a:bodyPr/>
          <a:p/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095750" y="238125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9B2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4800600" y="2286000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主题一</a:t>
            </a:r>
            <a:r>
              <a:rPr lang="en-US" sz="1575" b="1">
                <a:solidFill>
                  <a:srgbClr val="0F2438"/>
                </a:solidFill>
                <a:latin typeface="Microsoft YaHei"/>
                <a:ea typeface="Microsoft YaHei"/>
              </a:rPr>
              <a:t> · 420b </a:t>
            </a: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长编码验证体系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800600" y="258127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8B/10B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重建环境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53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个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Case ·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三条证据链定位根因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068050" y="243840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5000"/>
                  </a:srgbClr>
                </a:solidFill>
                <a:latin typeface="Consolas"/>
                <a:ea typeface="Consolas"/>
              </a:rPr>
              <a:t>P07–P09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095750" y="3381375"/>
            <a:ext cx="7486650" cy="609600"/>
          </a:xfrm>
          <a:custGeom>
            <a:pathLst>
              <a:path w="786" h="64">
                <a:moveTo>
                  <a:pt x="0" y="63"/>
                </a:moveTo>
                <a:lnTo>
                  <a:pt x="786" y="63"/>
                </a:lnTo>
                <a:lnTo>
                  <a:pt x="786" y="64"/>
                </a:lnTo>
                <a:lnTo>
                  <a:pt x="0" y="64"/>
                </a:lnTo>
                <a:close/>
              </a:path>
            </a:pathLst>
          </a:custGeom>
          <a:solidFill>
            <a:srgbClr val="0F2438">
              <a:alpha val="18000"/>
            </a:srgbClr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095750" y="3476625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9B2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800600" y="3381375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主题二</a:t>
            </a:r>
            <a:r>
              <a:rPr lang="en-US" sz="1575" b="1">
                <a:solidFill>
                  <a:srgbClr val="0F2438"/>
                </a:solidFill>
                <a:latin typeface="Microsoft YaHei"/>
                <a:ea typeface="Microsoft YaHei"/>
              </a:rPr>
              <a:t> · LC_CPUWR </a:t>
            </a: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代码修改全记录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800600" y="36766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五个月演进档案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10+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归档版本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六张寄存器全景图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068050" y="35337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5000"/>
                  </a:srgbClr>
                </a:solidFill>
                <a:latin typeface="Consolas"/>
                <a:ea typeface="Consolas"/>
              </a:rPr>
              <a:t>P10–P12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095750" y="4486275"/>
            <a:ext cx="7486650" cy="609600"/>
          </a:xfrm>
          <a:custGeom>
            <a:pathLst>
              <a:path w="786" h="64">
                <a:moveTo>
                  <a:pt x="0" y="63"/>
                </a:moveTo>
                <a:lnTo>
                  <a:pt x="786" y="63"/>
                </a:lnTo>
                <a:lnTo>
                  <a:pt x="786" y="64"/>
                </a:lnTo>
                <a:lnTo>
                  <a:pt x="0" y="64"/>
                </a:lnTo>
                <a:close/>
              </a:path>
            </a:pathLst>
          </a:custGeom>
          <a:solidFill>
            <a:srgbClr val="0F2438">
              <a:alpha val="18000"/>
            </a:srgbClr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095750" y="4581525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9B2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800600" y="4486275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主题三</a:t>
            </a:r>
            <a:r>
              <a:rPr lang="en-US" sz="1575" b="1">
                <a:solidFill>
                  <a:srgbClr val="0F2438"/>
                </a:solidFill>
                <a:latin typeface="Microsoft YaHei"/>
                <a:ea typeface="Microsoft YaHei"/>
              </a:rPr>
              <a:t> · Synthesis &amp; Integration Flow </a:t>
            </a: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指南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800600" y="4781550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12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章节流程手册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39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条脚本字典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52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张实拍截图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068050" y="46386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5000"/>
                  </a:srgbClr>
                </a:solidFill>
                <a:latin typeface="Consolas"/>
                <a:ea typeface="Consolas"/>
              </a:rPr>
              <a:t>P13–P14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095750" y="5676900"/>
            <a:ext cx="49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9B2B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800600" y="5581650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主题四与主题五</a:t>
            </a:r>
            <a:r>
              <a:rPr lang="en-US" sz="1575" b="1">
                <a:solidFill>
                  <a:srgbClr val="0F2438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0F2438"/>
                </a:solidFill>
                <a:latin typeface="Microsoft YaHei"/>
                <a:ea typeface="Microsoft YaHei"/>
              </a:rPr>
              <a:t>进阶设计实验室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800600" y="5876925"/>
            <a:ext cx="6057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Fusion Compiler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两天引入评估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1P/2P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时序约束方法论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68050" y="57340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5000"/>
                  </a:srgbClr>
                </a:solidFill>
                <a:latin typeface="Consolas"/>
                <a:ea typeface="Consolas"/>
              </a:rPr>
              <a:t>P15–P18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10629900" y="648652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1068050" y="64103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02 / 19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3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absolute', top: 480, left: 64, width: 220, height: 6, background: '#D99B2B' }} /&gt;&#10;&#10;  &lt;Box style={{ position: 'relative', zIndex: 1, flexDirection: 'row', height: 640, alignItems: 'center', gap: 40 }}&gt;&#10;&#10;    &lt;Box style={{ flex: 1, flexDirection: 'column' }}&gt;&#10;      &lt;Text style={{ fontSize: 13, color: '#D99B2B', letterSpacing: 3 }}&gt;CHAPTER 01 · OVERVIEW&lt;/Text&gt;&#10;      &lt;Text style={{ fontSize: 68, fontWeight: 'bold', color: '#F7F4EC', lineHeight: 1.15, marginTop: 24 }}&gt;项目全景与演进脉络&lt;/Text&gt;&#10;      &lt;Box style={{ width: 88, height: 3, background: '#D99B2B', marginTop: 30, marginBottom: 28 }} /&gt;&#10;      &lt;Text style={{ fontSize: 19, color: 'rgba(247,244,236,0.7)', lineHeight: 1.65 }}&gt;&#10;        先把站点本身的成长讲清楚——它是怎么从一篇文章，&lt;br /&gt;长成一个有结构、有节奏的工程知识库的。&#10;      &lt;/Text&gt;&#10;    &lt;/Box&gt;&#10;&#10;    &lt;Box style={{ width: 400, flexDirection: 'column', alignItems: 'flex-end', justifyContent: 'center' }}&gt;&#10;      &lt;Text style={{ fontSize: 240, fontWeight: 'bold', color: '#D99B2B', fontFamily: '&quot;Consolas&quot;, &quot;JetBrains Mono&quot;, monospace', lineHeight: 1.0 }}&gt;01&lt;/Text&gt;&#10;      &lt;Box style={{ width: 300, height: 1, background: 'rgba(217,155,43,0.45)', marginTop: 12, marginBottom: 20 }} /&gt;&#10;      &lt;Box style={{ flexDirection: 'row', gap: 34 }}&gt;&#10;        &lt;Box style={{ flexDirection: 'column', alignItems: 'center' }}&gt;&#10;          &lt;Text style={{ fontSize: 26, fontWeight: 'bold', color: '#F7F4EC', fontFamily: '&quot;Consolas&quot;, &quot;JetBrains Mono&quot;, monospace' }}&gt;261&lt;/Text&gt;&#10;          &lt;Text style={{ fontSize: 13, color: 'rgba(247,244,236,0.55)', marginTop: 5 }}&gt;次提交&lt;/Text&gt;&#10;        &lt;/Box&gt;&#10;        &lt;Box style={{ flexDirection: 'column', alignItems: 'center' }}&gt;&#10;          &lt;Text style={{ fontSize: 26, fontWeight: 'bold', color: '#F7F4EC', fontFamily: '&quot;Consolas&quot;, &quot;JetBrains Mono&quot;, monospace' }}&gt;58&lt;/Text&gt;&#10;          &lt;Text style={{ fontSize: 13, color: 'rgba(247,244,236,0.55)', marginTop: 5 }}&gt;个活跃日&lt;/Text&gt;&#10;        &lt;/Box&gt;&#10;        &lt;Box style={{ flexDirection: 'column', alignItems: 'center' }}&gt;&#10;          &lt;Text style={{ fontSize: 26, fontWeight: 'bold', color: '#F7F4EC', fontFamily: '&quot;Consolas&quot;, &quot;JetBrains Mono&quot;, monospace' }}&gt;3&lt;/Text&gt;&#10;          &lt;Text style={{ fontSize: 13, color: 'rgba(247,244,236,0.55)', marginTop: 5 }}&gt;个月&lt;/Text&gt;&#10;        &lt;/Box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3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56" name=""/>
          <p:cNvSpPr/>
          <p:nvPr/>
        </p:nvSpPr>
        <p:spPr>
          <a:xfrm rot="0" flipH="0" flipV="0">
            <a:off x="609600" y="4572000"/>
            <a:ext cx="2095500" cy="571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6781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CHAPTER 01 · OVERVIEW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609600" y="2524125"/>
            <a:ext cx="67818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项目全景与演进脉络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09600" y="3705225"/>
            <a:ext cx="838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09600" y="4000500"/>
            <a:ext cx="6781800" cy="723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先把站点本身的成长讲清楚——它是怎么从一篇文章，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长成一个有结构、有节奏的工程知识库的。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067800" y="1647825"/>
            <a:ext cx="25146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724900" y="4505325"/>
            <a:ext cx="2857500" cy="9525"/>
          </a:xfrm>
          <a:prstGeom prst="rect">
            <a:avLst/>
          </a:prstGeom>
          <a:solidFill>
            <a:srgbClr val="D99B2B">
              <a:alpha val="45000"/>
            </a:srgbClr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9782175" y="4705350"/>
            <a:ext cx="4095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7F4EC"/>
                </a:solidFill>
                <a:latin typeface="Consolas"/>
                <a:ea typeface="Consolas"/>
              </a:rPr>
              <a:t>261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801225" y="50577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次提交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0629900" y="470535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7F4EC"/>
                </a:solidFill>
                <a:latin typeface="Consolas"/>
                <a:ea typeface="Consolas"/>
              </a:rPr>
              <a:t>58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10515600" y="5057775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个活跃日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391900" y="4705350"/>
            <a:ext cx="1428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7F4EC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1334750" y="5057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个月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369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OVERVIEW · 项目规模&lt;/Text&gt;&#10;        &lt;Text style={{ fontSize: 34, fontWeight: 'bold', color: '#0F2438', lineHeight: 1.3, marginTop: 4 }}&gt;一句话看懂这个项目&lt;/Text&gt;&#10;      &lt;/Box&gt;&#10;      &lt;Text style={{ fontSize: 14, color: 'rgba(15,36,56,0.5)', fontFamily: '&quot;Consolas&quot;, &quot;JetBrains Mono&quot;, monospace', marginTop: 22 }}&gt;04 / 19&lt;/Text&gt;&#10;    &lt;/Box&gt;&#10;&#10;    &lt;Box style={{ height: 510, flexDirection: 'row', gap: 30, marginTop: 14 }}&gt;&#10;&#10;      &lt;Box style={{ width: 646, flexDirection: 'column', justifyContent: 'space-between' }}&gt;&#10;&#10;        &lt;Box style={{ background: 'rgba(15,36,56,0.06)', borderRadius: 10, padding: 22, borderLeft: '3px solid #D99B2B' }}&gt;&#10;          &lt;Text style={{ fontSize: 19, color: '#0F2438', lineHeight: 1.6 }}&gt;&#10;            「三个月、261 次提交、5 大技术主题——这是一个&lt;Text style={{ fontSize: 19, fontWeight: 'bold', color: '#0F2438' }}&gt;持续投入的内容工程&lt;/Text&gt;，不是一次性写完的笔记。」&#10;          &lt;/Text&gt;&#10;        &lt;/Box&gt;&#10;&#10;        &lt;Box style={{ flexDirection: 'row', alignItems: 'center', gap: 22, paddingBottom: 16, borderBottom: '1px solid rgba(15,36,56,0.16)' }}&gt;&#10;          &lt;Text style={{ fontSize: 46, fontWeight: 'bold', color: '#0F2438', fontFamily: '&quot;Consolas&quot;, &quot;JetBrains Mono&quot;, monospace', width: 132 }}&gt;261&lt;/Text&gt;&#10;          &lt;Box style={{ flex: 1, flexDirection: 'column' }}&gt;&#10;            &lt;Text style={{ fontSize: 17, fontWeight: 'bold', color: '#0F2438' }}&gt;次提交 · 58 个活跃开发日&lt;/Text&gt;&#10;            &lt;Text style={{ fontSize: 14, color: 'rgba(15,36,56,0.6)', marginTop: 5 }}&gt;平均每个活跃日 4.5 次提交，说明改动是小步、高频、可追溯的&lt;/Text&gt;&#10;          &lt;/Box&gt;&#10;        &lt;/Box&gt;&#10;&#10;        &lt;Box style={{ flexDirection: 'row', alignItems: 'center', gap: 22, paddingBottom: 16, borderBottom: '1px solid rgba(15,36,56,0.16)' }}&gt;&#10;          &lt;Text style={{ fontSize: 46, fontWeight: 'bold', color: '#0F2438', fontFamily: '&quot;Consolas&quot;, &quot;JetBrains Mono&quot;, monospace', width: 132 }}&gt;5&lt;/Text&gt;&#10;          &lt;Box style={{ flex: 1, flexDirection: 'column' }}&gt;&#10;            &lt;Text style={{ fontSize: 17, fontWeight: 'bold', color: '#0F2438' }}&gt;大技术主题 · 5 个独立站点目录&lt;/Text&gt;&#10;            &lt;Text style={{ fontSize: 14, color: 'rgba(15,36,56,0.6)', marginTop: 5 }}&gt;覆盖 RTL 验证、寄存器设计、综合流程、STA 约束与新工具评估&lt;/Text&gt;&#10;          &lt;/Box&gt;&#10;        &lt;/Box&gt;&#10;&#10;        &lt;Box style={{ flexDirection: 'row', alignItems: 'center', gap: 22, paddingBottom: 16, borderBottom: '1px solid rgba(15,36,56,0.16)' }}&gt;&#10;          &lt;Text style={{ fontSize: 46, fontWeight: 'bold', color: '#0F2438', fontFamily: '&quot;Consolas&quot;, &quot;JetBrains Mono&quot;, monospace', width: 132 }}&gt;50&lt;/Text&gt;&#10;          &lt;Box style={{ flex: 1, flexDirection: 'column' }}&gt;&#10;            &lt;Text style={{ fontSize: 17, fontWeight: 'bold', color: '#0F2438' }}&gt;个 HTML 内容页面&lt;/Text&gt;&#10;            &lt;Text style={{ fontSize: 14, color: 'rgba(15,36,56,0.6)', marginTop: 5 }}&gt;每个主题都有落地页 + 章节页两级结构，不是单篇长文&lt;/Text&gt;&#10;          &lt;/Box&gt;&#10;        &lt;/Box&gt;&#10;&#10;        &lt;Box style={{ flexDirection: 'row', alignItems: 'center', gap: 22 }}&gt;&#10;          &lt;Text style={{ fontSize: 46, fontWeight: 'bold', color: '#0F2438', fontFamily: '&quot;Consolas&quot;, &quot;JetBrains Mono&quot;, monospace', width: 132 }}&gt;2201&lt;/Text&gt;&#10;          &lt;Box style={{ flex: 1, flexDirection: 'column' }}&gt;&#10;            &lt;Text style={{ fontSize: 17, fontWeight: 'bold', color: '#0F2438' }}&gt;个仓库文件 · 含 101 张图与矢量图&lt;/Text&gt;&#10;            &lt;Text style={{ fontSize: 14, color: 'rgba(15,36,56,0.6)', marginTop: 5 }}&gt;截图、寄存器图谱、流程图与波形全部入库，结论可回溯到证据&lt;/Text&gt;&#10;          &lt;/Box&gt;&#10;        &lt;/Box&gt;&#10;&#10;      &lt;/Box&gt;&#10;&#10;      &lt;Box style={{ flex: 1, background: '#0F2438', borderRadius: 12, padding: 18, flexDirection: 'column' }}&gt;&#10;        &lt;Box style={{ flexDirection: 'row', justifyContent: 'space-between', alignItems: 'center', marginBottom: 12 }}&gt;&#10;          &lt;Text style={{ fontSize: 13, color: '#D99B2B', letterSpacing: 1 }}&gt;站点首页 · 5 篇公开文章&lt;/Text&gt;&#10;          &lt;Text style={{ fontSize: 12, color: 'rgba(247,244,236,0.45)', fontFamily: '&quot;Consolas&quot;, &quot;JetBrains Mono&quot;, monospace' }}&gt;index.html&lt;/Text&gt;&#10;        &lt;/Box&gt;&#10;        &lt;Image src='assets/shot_site_index.png' style={{ width: '100%', flex: 1, objectFit: 'cover', borderRadius: 6, border: '1px solid rgba(217,155,43,0.35)' }} /&gt;&#10;      &lt;/Box&gt;&#10;&#10;    &lt;/Box&gt;&#10;&#10;    &lt;Box style={{ height: 46, flexDirection: 'row', justifyContent: 'space-between', alignItems: 'flex-end', marginTop: 10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04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OVERVIEW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项目规模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29146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一句话看懂这个项目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04 / 19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38175" y="1181100"/>
            <a:ext cx="6153150" cy="1114425"/>
          </a:xfrm>
          <a:prstGeom prst="roundRect">
            <a:avLst>
              <a:gd name="adj" fmla="val 8547"/>
            </a:avLst>
          </a:prstGeom>
          <a:solidFill>
            <a:srgbClr val="0F2438">
              <a:alpha val="6000"/>
            </a:srgbClr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638175" y="1181100"/>
            <a:ext cx="6153150" cy="1114425"/>
          </a:xfrm>
          <a:custGeom>
            <a:pathLst>
              <a:path w="646" h="11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10"/>
                </a:lnTo>
                <a:cubicBezTo>
                  <a:pt x="3" y="113"/>
                  <a:pt x="5" y="116"/>
                  <a:pt x="8" y="117"/>
                </a:cubicBezTo>
                <a:cubicBezTo>
                  <a:pt x="3" y="116"/>
                  <a:pt x="0" y="112"/>
                  <a:pt x="0" y="10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47725" y="1390650"/>
            <a:ext cx="57054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2438"/>
                </a:solidFill>
                <a:latin typeface="Microsoft YaHei"/>
                <a:ea typeface="Microsoft YaHei"/>
              </a:rPr>
              <a:t>「三个月、</a:t>
            </a:r>
            <a:r>
              <a:rPr lang="en-US" sz="1425">
                <a:solidFill>
                  <a:srgbClr val="0F2438"/>
                </a:solidFill>
                <a:latin typeface="Microsoft YaHei"/>
                <a:ea typeface="Microsoft YaHei"/>
              </a:rPr>
              <a:t>261 </a:t>
            </a:r>
            <a:r>
              <a:rPr lang="zh-CN" sz="1425">
                <a:solidFill>
                  <a:srgbClr val="0F2438"/>
                </a:solidFill>
                <a:latin typeface="Microsoft YaHei"/>
                <a:ea typeface="Microsoft YaHei"/>
              </a:rPr>
              <a:t>次提交、</a:t>
            </a:r>
            <a:r>
              <a:rPr lang="en-US" sz="1425">
                <a:solidFill>
                  <a:srgbClr val="0F2438"/>
                </a:solidFill>
                <a:latin typeface="Microsoft YaHei"/>
                <a:ea typeface="Microsoft YaHei"/>
              </a:rPr>
              <a:t>5 </a:t>
            </a:r>
            <a:r>
              <a:rPr lang="zh-CN" sz="1425">
                <a:solidFill>
                  <a:srgbClr val="0F2438"/>
                </a:solidFill>
                <a:latin typeface="Microsoft YaHei"/>
                <a:ea typeface="Microsoft YaHei"/>
              </a:rPr>
              <a:t>大技术主题——这是一个</a:t>
            </a:r>
            <a:r>
              <a:rPr lang="zh-CN" sz="1425">
                <a:solidFill>
                  <a:srgbClr val="0F2438"/>
                </a:solidFill>
                <a:latin typeface="Microsoft YaHei"/>
                <a:ea typeface="Microsoft YaHei"/>
              </a:rPr>
              <a:t>持续投入的内容工程</a:t>
            </a:r>
            <a:r>
              <a:rPr lang="zh-CN" sz="1425">
                <a:solidFill>
                  <a:srgbClr val="0F2438"/>
                </a:solidFill>
                <a:latin typeface="Microsoft YaHei"/>
                <a:ea typeface="Microsoft YaHei"/>
              </a:rPr>
              <a:t>，不是一次性写完的笔记。」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609600" y="2581275"/>
            <a:ext cx="6153150" cy="704850"/>
          </a:xfrm>
          <a:custGeom>
            <a:pathLst>
              <a:path w="646" h="74">
                <a:moveTo>
                  <a:pt x="0" y="73"/>
                </a:moveTo>
                <a:lnTo>
                  <a:pt x="646" y="73"/>
                </a:lnTo>
                <a:lnTo>
                  <a:pt x="646" y="74"/>
                </a:lnTo>
                <a:lnTo>
                  <a:pt x="0" y="74"/>
                </a:lnTo>
                <a:close/>
              </a:path>
            </a:pathLst>
          </a:custGeom>
          <a:solidFill>
            <a:srgbClr val="0F2438">
              <a:alpha val="16000"/>
            </a:srgbClr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1257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F2438"/>
                </a:solidFill>
                <a:latin typeface="Consolas"/>
                <a:ea typeface="Consolas"/>
              </a:rPr>
              <a:t>261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2076450" y="2647950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次提交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· 58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个活跃开发日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2076450" y="289560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平均每个活跃日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4.5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次提交，说明改动是小步、高频、可追溯的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3552825"/>
            <a:ext cx="6153150" cy="704850"/>
          </a:xfrm>
          <a:custGeom>
            <a:pathLst>
              <a:path w="646" h="74">
                <a:moveTo>
                  <a:pt x="0" y="73"/>
                </a:moveTo>
                <a:lnTo>
                  <a:pt x="646" y="73"/>
                </a:lnTo>
                <a:lnTo>
                  <a:pt x="646" y="74"/>
                </a:lnTo>
                <a:lnTo>
                  <a:pt x="0" y="74"/>
                </a:lnTo>
                <a:close/>
              </a:path>
            </a:pathLst>
          </a:custGeom>
          <a:solidFill>
            <a:srgbClr val="0F2438">
              <a:alpha val="16000"/>
            </a:srgbClr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1257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F2438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2076450" y="3619500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大技术主题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· 5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个独立站点目录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076450" y="3867150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覆盖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RTL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验证、寄存器设计、综合流程、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STA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约束与新工具评估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09600" y="4533900"/>
            <a:ext cx="6153150" cy="704850"/>
          </a:xfrm>
          <a:custGeom>
            <a:pathLst>
              <a:path w="646" h="74">
                <a:moveTo>
                  <a:pt x="0" y="73"/>
                </a:moveTo>
                <a:lnTo>
                  <a:pt x="646" y="73"/>
                </a:lnTo>
                <a:lnTo>
                  <a:pt x="646" y="74"/>
                </a:lnTo>
                <a:lnTo>
                  <a:pt x="0" y="74"/>
                </a:lnTo>
                <a:close/>
              </a:path>
            </a:pathLst>
          </a:custGeom>
          <a:solidFill>
            <a:srgbClr val="0F2438">
              <a:alpha val="16000"/>
            </a:srgbClr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9600" y="4533900"/>
            <a:ext cx="1257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F2438"/>
                </a:solidFill>
                <a:latin typeface="Consolas"/>
                <a:ea typeface="Consolas"/>
              </a:rPr>
              <a:t>50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2076450" y="4600575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个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HTML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内容页面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2076450" y="4848225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每个主题都有落地页</a:t>
            </a:r>
            <a:r>
              <a:rPr lang="en-US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章节页两级结构，不是单篇长文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5505450"/>
            <a:ext cx="12573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F2438"/>
                </a:solidFill>
                <a:latin typeface="Consolas"/>
                <a:ea typeface="Consolas"/>
              </a:rPr>
              <a:t>2201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2076450" y="5572125"/>
            <a:ext cx="4686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个仓库文件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含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101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张图与矢量图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2076450" y="5819775"/>
            <a:ext cx="468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截图、寄存器图谱、流程图与波形全部入库，结论可回溯到证据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048500" y="1181100"/>
            <a:ext cx="4533900" cy="4857750"/>
          </a:xfrm>
          <a:prstGeom prst="roundRect">
            <a:avLst>
              <a:gd name="adj" fmla="val 2521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219950" y="135255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站点首页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5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篇公开文章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10782300" y="1362075"/>
            <a:ext cx="628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index.html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7219950" y="1619250"/>
            <a:ext cx="4191000" cy="424815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6" name=""/>
          <p:cNvPicPr>
            <a:picLocks noChangeAspect="1"/>
          </p:cNvPicPr>
          <p:nvPr/>
        </p:nvPicPr>
        <p:blipFill>
          <a:blip r:embed="rId1"/>
          <a:srcRect l="15749" t="0" r="15749" b="0"/>
          <a:stretch>
            <a:fillRect/>
          </a:stretch>
        </p:blipFill>
        <p:spPr>
          <a:xfrm rot="0" flipH="0" flipV="0">
            <a:off x="7219950" y="1619250"/>
            <a:ext cx="4191000" cy="4248150"/>
          </a:xfrm>
          <a:prstGeom prst="roundRect">
            <a:avLst>
              <a:gd name="adj" fmla="val 1364"/>
            </a:avLst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609600" y="641032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10629900" y="648652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11068050" y="64103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04 / 19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00" name="" descr="&lt;Slide style={{ width: 1280, height: 720, position: 'relative', background: '#0F2438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7)' strokeWidth={1} /&gt;&#10;    ))}&#10;    {Array.from({ length: 18 }).map((_, i) =&gt; (&#10;      &lt;line key={'h' + i} x1={0} y1={i * 40} x2={1280} y2={i * 40} stroke='rgba(217,155,43,0.07)' strokeWidth={1} /&gt;&#10;    ))}&#10;  &lt;/svg&gt;&#10;&#10;  &lt;Box style={{ position: 'relative', zIndex: 1,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RHYTHM · 提交节奏&lt;/Text&gt;&#10;        &lt;Text style={{ fontSize: 34, fontWeight: 'bold', color: '#F7F4EC', lineHeight: 1.3, marginTop: 4 }}&gt;三个月的开发节奏&lt;/Text&gt;&#10;      &lt;/Box&gt;&#10;      &lt;Text style={{ fontSize: 14, color: 'rgba(247,244,236,0.5)', fontFamily: '&quot;Consolas&quot;, &quot;JetBrains Mono&quot;, monospace', marginTop: 22 }}&gt;05 / 19&lt;/Text&gt;&#10;    &lt;/Box&gt;&#10;&#10;    &lt;Box style={{ height: 350, flexDirection: 'row', gap: 26, marginTop: 14 }}&gt;&#10;&#10;      &lt;Box style={{ width: 650, background: '#F7F4EC', borderRadius: 10, padding: 14, flexDirection: 'column' }}&gt;&#10;        &lt;Box style={{ flexDirection: 'row', justifyContent: 'space-between', alignItems: 'center', height: 26 }}&gt;&#10;          &lt;Text style={{ fontSize: 13, color: '#0F2438', fontWeight: 'bold' }}&gt;逐日提交次数 · 58 个活跃日&lt;/Text&gt;&#10;          &lt;Text style={{ fontSize: 12, color: 'rgba(15,36,56,0.5)', fontFamily: '&quot;Consolas&quot;, &quot;JetBrains Mono&quot;, monospace' }}&gt;2026-07-13 → 09-09&lt;/Text&gt;&#10;        &lt;/Box&gt;&#10;        &lt;Image src='assets/chart_daily.png' style={{ width: '100%', height: 296, objectFit: 'contain', marginTop: 4 }} /&gt;&#10;      &lt;/Box&gt;&#10;&#10;      &lt;Box style={{ width: 476, background: '#F7F4EC', borderRadius: 10, padding: 14, flexDirection: 'column' }}&gt;&#10;        &lt;Box style={{ flexDirection: 'row', justifyContent: 'space-between', alignItems: 'center', height: 26 }}&gt;&#10;          &lt;Text style={{ fontSize: 13, color: '#0F2438', fontWeight: 'bold' }}&gt;月度提交分布&lt;/Text&gt;&#10;          &lt;Text style={{ fontSize: 12, color: '#D99B2B', fontWeight: 'bold', fontFamily: '&quot;Consolas&quot;, &quot;JetBrains Mono&quot;, monospace' }}&gt;150 / 73 / 38&lt;/Text&gt;&#10;        &lt;/Box&gt;&#10;        &lt;Image src='assets/chart_monthly.png' style={{ width: '100%', height: 250, objectFit: 'contain', marginTop: 4 }} /&gt;&#10;        &lt;Text style={{ fontSize: 12, color: 'rgba(15,36,56,0.6)', marginTop: 6 }}&gt;峰值集中在 7 月——先铺量把骨架立起来&lt;/Text&gt;&#10;      &lt;/Box&gt;&#10;&#10;    &lt;/Box&gt;&#10;&#10;    &lt;Box style={{ height: 144, background: '#1D3F5C', borderRadius: 10, marginTop: 16, padding: '0 30px', flexDirection: 'row', alignItems: 'center', gap: 34, borderLeft: '4px solid #D99B2B' }}&gt;&#10;      &lt;Box style={{ flexDirection: 'column' }}&gt;&#10;        &lt;Text style={{ fontSize: 96, fontWeight: 'bold', color: '#D99B2B', fontFamily: '&quot;Consolas&quot;, &quot;JetBrains Mono&quot;, monospace', lineHeight: 1.0 }}&gt;261&lt;/Text&gt;&#10;      &lt;/Box&gt;&#10;      &lt;Box style={{ width: 1, height: 90, background: 'rgba(247,244,236,0.22)' }} /&gt;&#10;      &lt;Box style={{ flex: 1, flexDirection: 'column' }}&gt;&#10;        &lt;Text style={{ fontSize: 19, color: '#F7F4EC', lineHeight: 1.6 }}&gt;&#10;          先密集铺量建骨架（7 月），再逐主题深挖（8 月），最后收敛到统一视觉（9 月）——&#10;          &lt;Text style={{ fontSize: 19, fontWeight: 'bold', color: '#D99B2B' }}&gt;提交量递减不是投入减少，而是单位产出变重&lt;/Text&gt;。&#10;        &lt;/Text&gt;&#10;        &lt;Text style={{ fontSize: 14, color: 'rgba(247,244,236,0.6)', marginTop: 10 }}&gt;&#10;          7 月 150 次提交立起三大主题 → 8 月 73 次补齐寄存器图谱与流程图谱 → 9 月 38 次做主题拆分与视觉统一&#10;        &lt;/Text&gt;&#10;      &lt;/Box&gt;&#10;    &lt;/Box&gt;&#10;&#10;    &lt;Box style={{ flex: 1, flexDirection: 'row', justifyContent: 'space-between', alignItems: 'flex-end' }}&gt;&#10;      &lt;Text style={{ fontSize: 14, color: 'rgba(247,244,23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247,244,236,0.45)', fontFamily: '&quot;Consolas&quot;, &quot;JetBrains Mono&quot;, monospace' }}&gt;05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438"/>
          </a:solidFill>
          <a:ln/>
        </p:spPr>
        <p:txBody>
          <a:bodyPr/>
          <a:p/>
        </p:txBody>
      </p:sp>
      <p:pic>
        <p:nvPicPr>
          <p:cNvPr id="40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59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RHYTHM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提交节奏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2590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三个月的开发节奏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0000"/>
                  </a:srgbClr>
                </a:solidFill>
                <a:latin typeface="Consolas"/>
                <a:ea typeface="Consolas"/>
              </a:rPr>
              <a:t>05 / 19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1181100"/>
            <a:ext cx="6191250" cy="3371850"/>
          </a:xfrm>
          <a:prstGeom prst="roundRect">
            <a:avLst>
              <a:gd name="adj" fmla="val 2825"/>
            </a:avLst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42950" y="1362075"/>
            <a:ext cx="1562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2438"/>
                </a:solidFill>
                <a:latin typeface="Microsoft YaHei"/>
                <a:ea typeface="Microsoft YaHei"/>
              </a:rPr>
              <a:t>逐日提交次数</a:t>
            </a:r>
            <a:r>
              <a:rPr lang="en-US" sz="975" b="1">
                <a:solidFill>
                  <a:srgbClr val="0F2438"/>
                </a:solidFill>
                <a:latin typeface="Microsoft YaHei"/>
                <a:ea typeface="Microsoft YaHei"/>
              </a:rPr>
              <a:t> · 58 </a:t>
            </a:r>
            <a:r>
              <a:rPr lang="zh-CN" sz="975" b="1">
                <a:solidFill>
                  <a:srgbClr val="0F2438"/>
                </a:solidFill>
                <a:latin typeface="Microsoft YaHei"/>
                <a:ea typeface="Microsoft YaHei"/>
              </a:rPr>
              <a:t>个活跃日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534025" y="1371600"/>
            <a:ext cx="1133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2026-07-13 → 09-09</a:t>
            </a:r>
            <a:endParaRPr/>
          </a:p>
        </p:txBody>
      </p:sp>
      <p:pic>
        <p:nvPicPr>
          <p:cNvPr id="409" name=""/>
          <p:cNvPicPr>
            <a:picLocks noChangeAspect="1"/>
          </p:cNvPicPr>
          <p:nvPr/>
        </p:nvPicPr>
        <p:blipFill>
          <a:blip r:embed="rId2"/>
          <a:srcRect l="8" t="0" r="8" b="0"/>
          <a:stretch>
            <a:fillRect/>
          </a:stretch>
        </p:blipFill>
        <p:spPr>
          <a:xfrm rot="0" flipH="0" flipV="0">
            <a:off x="742950" y="1600200"/>
            <a:ext cx="5924550" cy="2819400"/>
          </a:xfrm>
          <a:prstGeom prst="rect">
            <a:avLst/>
          </a:prstGeom>
          <a:ln/>
        </p:spPr>
      </p:pic>
      <p:sp>
        <p:nvSpPr>
          <p:cNvPr id="410" name=""/>
          <p:cNvSpPr/>
          <p:nvPr/>
        </p:nvSpPr>
        <p:spPr>
          <a:xfrm rot="0" flipH="0" flipV="0">
            <a:off x="7048500" y="1181100"/>
            <a:ext cx="4533900" cy="3333750"/>
          </a:xfrm>
          <a:prstGeom prst="roundRect">
            <a:avLst>
              <a:gd name="adj" fmla="val 2857"/>
            </a:avLst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181850" y="13620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2438"/>
                </a:solidFill>
                <a:latin typeface="Microsoft YaHei"/>
                <a:ea typeface="Microsoft YaHei"/>
              </a:rPr>
              <a:t>月度提交分布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0629900" y="13716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D99B2B"/>
                </a:solidFill>
                <a:latin typeface="Consolas"/>
                <a:ea typeface="Consolas"/>
              </a:rPr>
              <a:t>150 / 73 / 38</a:t>
            </a:r>
            <a:endParaRPr/>
          </a:p>
        </p:txBody>
      </p:sp>
      <p:pic>
        <p:nvPicPr>
          <p:cNvPr id="413" name=""/>
          <p:cNvPicPr>
            <a:picLocks noChangeAspect="1"/>
          </p:cNvPicPr>
          <p:nvPr/>
        </p:nvPicPr>
        <p:blipFill>
          <a:blip r:embed="rId3"/>
          <a:srcRect l="0" t="5546" r="0" b="5546"/>
          <a:stretch>
            <a:fillRect/>
          </a:stretch>
        </p:blipFill>
        <p:spPr>
          <a:xfrm rot="0" flipH="0" flipV="0">
            <a:off x="7181850" y="1600200"/>
            <a:ext cx="4267200" cy="2381250"/>
          </a:xfrm>
          <a:prstGeom prst="rect">
            <a:avLst/>
          </a:prstGeom>
          <a:ln/>
        </p:spPr>
      </p:pic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181850" y="4038600"/>
            <a:ext cx="426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峰值集中在</a:t>
            </a:r>
            <a:r>
              <a:rPr lang="en-US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7 </a:t>
            </a: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月——先铺量把骨架立起来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47700" y="4667250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1D3F5C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47700" y="4667250"/>
            <a:ext cx="10972800" cy="1371600"/>
          </a:xfrm>
          <a:custGeom>
            <a:pathLst>
              <a:path w="1152" h="14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138"/>
                </a:lnTo>
                <a:cubicBezTo>
                  <a:pt x="4" y="141"/>
                  <a:pt x="6" y="143"/>
                  <a:pt x="9" y="144"/>
                </a:cubicBezTo>
                <a:cubicBezTo>
                  <a:pt x="4" y="143"/>
                  <a:pt x="0" y="139"/>
                  <a:pt x="0" y="13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933450" y="4800600"/>
            <a:ext cx="15144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D99B2B"/>
                </a:solidFill>
                <a:latin typeface="Consolas"/>
                <a:ea typeface="Consolas"/>
              </a:rPr>
              <a:t>261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2771775" y="4924425"/>
            <a:ext cx="9525" cy="857250"/>
          </a:xfrm>
          <a:prstGeom prst="rect">
            <a:avLst/>
          </a:prstGeom>
          <a:solidFill>
            <a:srgbClr val="F7F4EC">
              <a:alpha val="22000"/>
            </a:srgbClr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105150" y="4876800"/>
            <a:ext cx="8191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先密集铺量建骨架（</a:t>
            </a:r>
            <a:r>
              <a:rPr lang="en-US" sz="1425">
                <a:solidFill>
                  <a:srgbClr val="F7F4EC"/>
                </a:solidFill>
                <a:latin typeface="Microsoft YaHei"/>
                <a:ea typeface="Microsoft YaHei"/>
              </a:rPr>
              <a:t>7 </a:t>
            </a: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月），再逐主题深挖（</a:t>
            </a:r>
            <a:r>
              <a:rPr lang="en-US" sz="1425">
                <a:solidFill>
                  <a:srgbClr val="F7F4EC"/>
                </a:solidFill>
                <a:latin typeface="Microsoft YaHei"/>
                <a:ea typeface="Microsoft YaHei"/>
              </a:rPr>
              <a:t>8 </a:t>
            </a: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月），最后收敛到统一视觉（</a:t>
            </a:r>
            <a:r>
              <a:rPr lang="en-US" sz="1425">
                <a:solidFill>
                  <a:srgbClr val="F7F4EC"/>
                </a:solidFill>
                <a:latin typeface="Microsoft YaHei"/>
                <a:ea typeface="Microsoft YaHei"/>
              </a:rPr>
              <a:t>9 </a:t>
            </a: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月）——</a:t>
            </a: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提交量递减不是投入减少，而是单位产出变重</a:t>
            </a:r>
            <a:r>
              <a:rPr lang="zh-CN" sz="1425">
                <a:solidFill>
                  <a:srgbClr val="F7F4EC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3105150" y="5667375"/>
            <a:ext cx="819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150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次提交立起三大主题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→ 8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73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次补齐寄存器图谱与流程图谱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→ 9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月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38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次做主题拆分与视觉统一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05 / 19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24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TIMELINE · 并行主线&lt;/Text&gt;&#10;        &lt;Text style={{ fontSize: 34, fontWeight: 'bold', color: '#0F2438', lineHeight: 1.3, marginTop: 4 }}&gt;五条并行的技术主线&lt;/Text&gt;&#10;      &lt;/Box&gt;&#10;      &lt;Text style={{ fontSize: 14, color: 'rgba(15,36,56,0.5)', fontFamily: '&quot;Consolas&quot;, &quot;JetBrains Mono&quot;, monospace', marginTop: 22 }}&gt;06 / 19&lt;/Text&gt;&#10;    &lt;/Box&gt;&#10;&#10;    &lt;Box style={{ height: 354, flexDirection: 'row', gap: 26, marginTop: 14 }}&gt;&#10;&#10;      &lt;Box style={{ width: 497, background: '#0F2438', borderRadius: 10, padding: 14, flexDirection: 'column' }}&gt;&#10;        &lt;Box style={{ flexDirection: 'row', justifyContent: 'space-between', alignItems: 'center', height: 26 }}&gt;&#10;          &lt;Text style={{ fontSize: 13, color: '#F7F4EC', fontWeight: 'bold' }}&gt;各主题提交数&lt;/Text&gt;&#10;          &lt;Text style={{ fontSize: 12, color: '#D99B2B', fontFamily: '&quot;Consolas&quot;, &quot;JetBrains Mono&quot;, monospace' }}&gt;131 / 63 / 35 / 32 / 25 / 12&lt;/Text&gt;&#10;        &lt;/Box&gt;&#10;        &lt;Image src='assets/chart_topics.png' style={{ width: '100%', height: 280, objectFit: 'contain', marginTop: 4, borderRadius: 4 }} /&gt;&#10;      &lt;/Box&gt;&#10;&#10;      &lt;Box style={{ width: 629, background: '#0F2438', borderRadius: 10, padding: 14, flexDirection: 'column' }}&gt;&#10;        &lt;Box style={{ flexDirection: 'row', justifyContent: 'space-between', alignItems: 'center', height: 26 }}&gt;&#10;          &lt;Text style={{ fontSize: 13, color: '#F7F4EC', fontWeight: 'bold' }}&gt;主题活跃跨度&lt;/Text&gt;&#10;          &lt;Text style={{ fontSize: 12, color: '#D99B2B', fontFamily: '&quot;Consolas&quot;, &quot;JetBrains Mono&quot;, monospace' }}&gt;07-13 → 09-09&lt;/Text&gt;&#10;        &lt;/Box&gt;&#10;        &lt;Image src='assets/chart_gantt.png' style={{ width: '100%', height: 300, objectFit: 'contain', marginTop: 4, borderRadius: 4 }} /&gt;&#10;      &lt;/Box&gt;&#10;&#10;    &lt;/Box&gt;&#10;&#10;    &lt;Box style={{ height: 142, marginTop: 14, flexDirection: 'row', gap: 24 }}&gt;&#10;&#10;      &lt;Box style={{ flex: 1, background: 'rgba(15,36,56,0.06)', borderRadius: 10, padding: 20, borderTop: '3px solid #D99B2B', flexDirection: 'column', justifyContent: 'space-between' }}&gt;&#10;        &lt;Text style={{ fontSize: 30, fontWeight: 'bold', color: '#0F2438', fontFamily: '&quot;Consolas&quot;, &quot;JetBrains Mono&quot;, monospace', lineHeight: 1.0 }}&gt;3&lt;/Text&gt;&#10;        &lt;Text style={{ fontSize: 14, color: 'rgba(15,36,56,0.7)', lineHeight: 1.5 }}&gt;条主线在首周就已启动，说明一开局就是多主题并行规划&lt;/Text&gt;&#10;      &lt;/Box&gt;&#10;&#10;      &lt;Box style={{ flex: 1, background: 'rgba(15,36,56,0.06)', borderRadius: 10, padding: 20, borderTop: '3px solid #D99B2B', flexDirection: 'column', justifyContent: 'space-between' }}&gt;&#10;        &lt;Text style={{ fontSize: 30, fontWeight: 'bold', color: '#0F2438', fontFamily: '&quot;Consolas&quot;, &quot;JetBrains Mono&quot;, monospace', lineHeight: 1.0 }}&gt;131&lt;/Text&gt;&#10;        &lt;Text style={{ fontSize: 14, color: 'rgba(15,36,56,0.7)', lineHeight: 1.5 }}&gt;次提交投在流程指南上——它是投入最重、也最可复用的一条&lt;/Text&gt;&#10;      &lt;/Box&gt;&#10;&#10;      &lt;Box style={{ flex: 1, background: 'rgba(15,36,56,0.06)', borderRadius: 10, padding: 20, borderTop: '3px solid #D99B2B', flexDirection: 'column', justifyContent: 'space-between' }}&gt;&#10;        &lt;Text style={{ fontSize: 30, fontWeight: 'bold', color: '#0F2438', fontFamily: '&quot;Consolas&quot;, &quot;JetBrains Mono&quot;, monospace', lineHeight: 1.0 }}&gt;09-02&lt;/Text&gt;&#10;        &lt;Text style={{ fontSize: 14, color: 'rgba(15,36,56,0.7)', lineHeight: 1.5 }}&gt;最晚的一条主线入场，却只用了 2 天就跑通验收&lt;/Text&gt;&#10;      &lt;/Box&gt;&#10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06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TIMELINE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并行主线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29146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五条并行的技术主线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06 / 19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09600" y="1181100"/>
            <a:ext cx="4733925" cy="3371850"/>
          </a:xfrm>
          <a:prstGeom prst="roundRect">
            <a:avLst>
              <a:gd name="adj" fmla="val 2825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742950" y="13620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Microsoft YaHei"/>
                <a:ea typeface="Microsoft YaHei"/>
              </a:rPr>
              <a:t>各主题提交数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448050" y="1371600"/>
            <a:ext cx="1762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9B2B"/>
                </a:solidFill>
                <a:latin typeface="Consolas"/>
                <a:ea typeface="Consolas"/>
              </a:rPr>
              <a:t>131 / 63 / 35 / 32 / 25 / 12</a:t>
            </a:r>
            <a:endParaRPr/>
          </a:p>
        </p:txBody>
      </p:sp>
      <p:pic>
        <p:nvPicPr>
          <p:cNvPr id="432" name=""/>
          <p:cNvPicPr>
            <a:picLocks noChangeAspect="1"/>
          </p:cNvPicPr>
          <p:nvPr/>
        </p:nvPicPr>
        <p:blipFill>
          <a:blip r:embed="rId1"/>
          <a:srcRect l="0" t="85" r="0" b="85"/>
          <a:stretch>
            <a:fillRect/>
          </a:stretch>
        </p:blipFill>
        <p:spPr>
          <a:xfrm rot="0" flipH="0" flipV="0">
            <a:off x="742950" y="1600200"/>
            <a:ext cx="4467225" cy="2667000"/>
          </a:xfrm>
          <a:prstGeom prst="roundRect">
            <a:avLst>
              <a:gd name="adj" fmla="val 1429"/>
            </a:avLst>
          </a:prstGeom>
          <a:ln/>
        </p:spPr>
      </p:pic>
      <p:sp>
        <p:nvSpPr>
          <p:cNvPr id="433" name=""/>
          <p:cNvSpPr/>
          <p:nvPr/>
        </p:nvSpPr>
        <p:spPr>
          <a:xfrm rot="0" flipH="0" flipV="0">
            <a:off x="5591175" y="1181100"/>
            <a:ext cx="5991225" cy="3409950"/>
          </a:xfrm>
          <a:prstGeom prst="roundRect">
            <a:avLst>
              <a:gd name="adj" fmla="val 279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724525" y="136207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F7F4EC"/>
                </a:solidFill>
                <a:latin typeface="Microsoft YaHei"/>
                <a:ea typeface="Microsoft YaHei"/>
              </a:rPr>
              <a:t>主题活跃跨度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10629900" y="13716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D99B2B"/>
                </a:solidFill>
                <a:latin typeface="Consolas"/>
                <a:ea typeface="Consolas"/>
              </a:rPr>
              <a:t>07-13 → 09-09</a:t>
            </a:r>
            <a:endParaRPr/>
          </a:p>
        </p:txBody>
      </p:sp>
      <p:pic>
        <p:nvPicPr>
          <p:cNvPr id="436" name=""/>
          <p:cNvPicPr>
            <a:picLocks noChangeAspect="1"/>
          </p:cNvPicPr>
          <p:nvPr/>
        </p:nvPicPr>
        <p:blipFill>
          <a:blip r:embed="rId2"/>
          <a:srcRect l="0" t="83" r="0" b="83"/>
          <a:stretch>
            <a:fillRect/>
          </a:stretch>
        </p:blipFill>
        <p:spPr>
          <a:xfrm rot="0" flipH="0" flipV="0">
            <a:off x="5724525" y="1600200"/>
            <a:ext cx="5724525" cy="2857500"/>
          </a:xfrm>
          <a:prstGeom prst="roundRect">
            <a:avLst>
              <a:gd name="adj" fmla="val 1333"/>
            </a:avLst>
          </a:prstGeom>
          <a:ln/>
        </p:spPr>
      </p:pic>
      <p:sp>
        <p:nvSpPr>
          <p:cNvPr id="437" name=""/>
          <p:cNvSpPr/>
          <p:nvPr/>
        </p:nvSpPr>
        <p:spPr>
          <a:xfrm rot="0" flipH="0" flipV="0">
            <a:off x="609600" y="4714875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0F2438">
              <a:alpha val="6000"/>
            </a:srgbClr>
          </a:solidFill>
          <a:ln/>
        </p:spPr>
        <p:txBody>
          <a:bodyPr/>
          <a:p/>
        </p:txBody>
      </p:sp>
      <p:sp>
        <p:nvSpPr>
          <p:cNvPr id="438" name=""/>
          <p:cNvSpPr/>
          <p:nvPr/>
        </p:nvSpPr>
        <p:spPr>
          <a:xfrm rot="0" flipH="0" flipV="0">
            <a:off x="609600" y="4714875"/>
            <a:ext cx="3505200" cy="1352550"/>
          </a:xfrm>
          <a:custGeom>
            <a:pathLst>
              <a:path w="368" h="142">
                <a:moveTo>
                  <a:pt x="358" y="0"/>
                </a:moveTo>
                <a:cubicBezTo>
                  <a:pt x="363" y="0"/>
                  <a:pt x="367" y="3"/>
                  <a:pt x="368" y="8"/>
                </a:cubicBezTo>
                <a:cubicBezTo>
                  <a:pt x="367" y="5"/>
                  <a:pt x="364" y="3"/>
                  <a:pt x="36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800100" y="490537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2438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00100" y="5362575"/>
            <a:ext cx="3124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0F2438">
                    <a:alpha val="70000"/>
                  </a:srgbClr>
                </a:solidFill>
                <a:latin typeface="Microsoft YaHei"/>
                <a:ea typeface="Microsoft YaHei"/>
              </a:rPr>
              <a:t>条主线在首周就已启动，说明一开局就是多主题并行规划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4343400" y="4714875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0F2438">
              <a:alpha val="6000"/>
            </a:srgbClr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4343400" y="4714875"/>
            <a:ext cx="3505200" cy="1352550"/>
          </a:xfrm>
          <a:custGeom>
            <a:pathLst>
              <a:path w="368" h="142">
                <a:moveTo>
                  <a:pt x="358" y="0"/>
                </a:moveTo>
                <a:cubicBezTo>
                  <a:pt x="363" y="0"/>
                  <a:pt x="367" y="3"/>
                  <a:pt x="368" y="8"/>
                </a:cubicBezTo>
                <a:cubicBezTo>
                  <a:pt x="367" y="5"/>
                  <a:pt x="364" y="3"/>
                  <a:pt x="36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533900" y="490537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2438"/>
                </a:solidFill>
                <a:latin typeface="Consolas"/>
                <a:ea typeface="Consolas"/>
              </a:rPr>
              <a:t>131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533900" y="5362575"/>
            <a:ext cx="31242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0F2438">
                    <a:alpha val="70000"/>
                  </a:srgbClr>
                </a:solidFill>
                <a:latin typeface="Microsoft YaHei"/>
                <a:ea typeface="Microsoft YaHei"/>
              </a:rPr>
              <a:t>次提交投在流程指南上——它是投入最重、也最可复用的一条</a:t>
            </a:r>
            <a:endParaRPr/>
          </a:p>
        </p:txBody>
      </p:sp>
      <p:sp>
        <p:nvSpPr>
          <p:cNvPr id="445" name=""/>
          <p:cNvSpPr/>
          <p:nvPr/>
        </p:nvSpPr>
        <p:spPr>
          <a:xfrm rot="0" flipH="0" flipV="0">
            <a:off x="8077200" y="4714875"/>
            <a:ext cx="3505200" cy="1352550"/>
          </a:xfrm>
          <a:prstGeom prst="roundRect">
            <a:avLst>
              <a:gd name="adj" fmla="val 7042"/>
            </a:avLst>
          </a:prstGeom>
          <a:solidFill>
            <a:srgbClr val="0F2438">
              <a:alpha val="6000"/>
            </a:srgbClr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8077200" y="4714875"/>
            <a:ext cx="3505200" cy="1352550"/>
          </a:xfrm>
          <a:custGeom>
            <a:pathLst>
              <a:path w="368" h="142">
                <a:moveTo>
                  <a:pt x="358" y="0"/>
                </a:moveTo>
                <a:cubicBezTo>
                  <a:pt x="363" y="0"/>
                  <a:pt x="367" y="3"/>
                  <a:pt x="368" y="8"/>
                </a:cubicBezTo>
                <a:cubicBezTo>
                  <a:pt x="367" y="5"/>
                  <a:pt x="364" y="3"/>
                  <a:pt x="36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267700" y="4905375"/>
            <a:ext cx="3124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2438"/>
                </a:solidFill>
                <a:latin typeface="Consolas"/>
                <a:ea typeface="Consolas"/>
              </a:rPr>
              <a:t>09-02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267700" y="56007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0F2438">
                    <a:alpha val="70000"/>
                  </a:srgbClr>
                </a:solidFill>
                <a:latin typeface="Microsoft YaHei"/>
                <a:ea typeface="Microsoft YaHei"/>
              </a:rPr>
              <a:t>最晚的一条主线入场，却只用了</a:t>
            </a:r>
            <a:r>
              <a:rPr lang="en-US" sz="1050">
                <a:solidFill>
                  <a:srgbClr val="0F2438">
                    <a:alpha val="70000"/>
                  </a:srgbClr>
                </a:solidFill>
                <a:latin typeface="Microsoft YaHei"/>
                <a:ea typeface="Microsoft YaHei"/>
              </a:rPr>
              <a:t> 2 </a:t>
            </a:r>
            <a:r>
              <a:rPr lang="zh-CN" sz="1050">
                <a:solidFill>
                  <a:srgbClr val="0F2438">
                    <a:alpha val="70000"/>
                  </a:srgbClr>
                </a:solidFill>
                <a:latin typeface="Microsoft YaHei"/>
                <a:ea typeface="Microsoft YaHei"/>
              </a:rPr>
              <a:t>天就跑通验收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06 / 19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52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relative', zIndex: 1, height: 640, flexDirection: 'column' }}&gt;&#10;&#10;    &lt;Box style={{ height: 236, flexDirection: 'row', alignItems: 'flex-start', gap: 40 }}&gt;&#10;      &lt;Box style={{ width: 220, flexDirection: 'column' }}&gt;&#10;        &lt;Text style={{ fontSize: 13, color: '#D99B2B', letterSpacing: 3 }}&gt;CHAPTER 02&lt;/Text&gt;&#10;        &lt;Text style={{ fontSize: 13, color: 'rgba(247,244,236,0.45)', letterSpacing: 1, marginTop: 8 }}&gt;主题一&lt;/Text&gt;&#10;      &lt;/Box&gt;&#10;      &lt;Box style={{ flex: 1, flexDirection: 'column' }}&gt;&#10;        &lt;Text style={{ fontSize: 68, fontWeight: 'bold', color: '#F7F4EC', lineHeight: 1.15 }}&gt;420b 长编码验证体系&lt;/Text&gt;&#10;        &lt;Box style={{ width: 88, height: 3, background: '#D99B2B', marginTop: 26, marginBottom: 22 }} /&gt;&#10;        &lt;Text style={{ fontSize: 19, color: 'rgba(247,244,236,0.72)', lineHeight: 1.6 }}&gt;&#10;          基于 DV_TCON_C 现有 8B/10B 结构重建 420b 验证环境——接收端不看 RTL，用脚本离线解码比对。&#10;        &lt;/Text&gt;&#10;      &lt;/Box&gt;&#10;    &lt;/Box&gt;&#10;&#10;    &lt;Box style={{ height: 404, flexDirection: 'row', alignItems: 'center', gap: 44, marginTop: 0 }}&gt;&#10;&#10;      &lt;Box style={{ width: 390, flexDirection: 'column', alignItems: 'flex-start' }}&gt;&#10;        &lt;Text style={{ fontSize: 260, fontWeight: 'bold', color: '#D99B2B', fontFamily: '&quot;Consolas&quot;, &quot;JetBrains Mono&quot;, monospace', lineHeight: 1.0 }}&gt;53&lt;/Text&gt;&#10;        &lt;Text style={{ fontSize: 17, color: 'rgba(247,244,236,0.72)', marginTop: 6 }}&gt;个规划验证 Case · 按命名规范分 7 类&lt;/Text&gt;&#10;      &lt;/Box&gt;&#10;&#10;      &lt;Box style={{ flex: 1, flexDirection: 'column', justifyContent: 'center', gap: 18 }}&gt;&#10;        &lt;Box style={{ flexDirection: 'row', alignItems: 'center', gap: 22, paddingBottom: 16, borderBottom: '1px solid rgba(247,244,236,0.18)' }}&gt;&#10;          &lt;Text style={{ fontSize: 40, fontWeight: 'bold', color: '#F7F4EC', fontFamily: '&quot;Consolas&quot;, &quot;JetBrains Mono&quot;, monospace', width: 100 }}&gt;10&lt;/Text&gt;&#10;          &lt;Box style={{ flex: 1 }}&gt;&#10;            &lt;Text style={{ fontSize: 17, fontWeight: 'bold', color: '#F7F4EC' }}&gt;项联调问题完成定位&lt;/Text&gt;&#10;            &lt;Text style={{ fontSize: 14, color: 'rgba(247,244,236,0.6)', marginTop: 4 }}&gt;从 K 码错解、位序反转到映射表不一致，逐条给出根因&lt;/Text&gt;&#10;          &lt;/Box&gt;&#10;        &lt;/Box&gt;&#10;        &lt;Box style={{ flexDirection: 'row', alignItems: 'center', gap: 22, paddingBottom: 16, borderBottom: '1px solid rgba(247,244,236,0.18)' }}&gt;&#10;          &lt;Text style={{ fontSize: 40, fontWeight: 'bold', color: '#F7F4EC', fontFamily: '&quot;Consolas&quot;, &quot;JetBrains Mono&quot;, monospace', width: 100 }}&gt;3&lt;/Text&gt;&#10;          &lt;Box style={{ flex: 1 }}&gt;&#10;            &lt;Text style={{ fontSize: 17, fontWeight: 'bold', color: '#F7F4EC' }}&gt;条脚本化证据链&lt;/Text&gt;&#10;            &lt;Text style={{ fontSize: 14, color: 'rgba(247,244,236,0.6)', marginTop: 4 }}&gt;抓取 — 解码 — 比对，不依赖 DUT 自身的解码结果&lt;/Text&gt;&#10;          &lt;/Box&gt;&#10;        &lt;/Box&gt;&#10;        &lt;Box style={{ flexDirection: 'row', alignItems: 'center', gap: 22 }}&gt;&#10;          &lt;Text style={{ fontSize: 40, fontWeight: 'bold', color: '#D99B2B', fontFamily: '&quot;Consolas&quot;, &quot;JetBrains Mono&quot;, monospace', width: 100 }}&gt;5/5&lt;/Text&gt;&#10;          &lt;Box style={{ flex: 1 }}&gt;&#10;            &lt;Text style={{ fontSize: 17, fontWeight: 'bold', color: '#F7F4EC' }}&gt;线上数据区域全部证实正确&lt;/Text&gt;&#10;            &lt;Text style={{ fontSize: 14, color: 'rgba(247,244,236,0.6)', marginTop: 4 }}&gt;把&quot;数据对不对&quot;和&quot;RTL 解码对不对&quot;彻底拆开，责任边界清晰&lt;/Text&gt;&#10;          &lt;/Box&gt;&#10;        &lt;/Box&gt;&#10;      &lt;/Box&gt;&#10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4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主题一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3086100" y="381000"/>
            <a:ext cx="84963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100" b="1">
                <a:solidFill>
                  <a:srgbClr val="F7F4EC"/>
                </a:solidFill>
                <a:latin typeface="Microsoft YaHei"/>
                <a:ea typeface="Microsoft YaHei"/>
              </a:rPr>
              <a:t>420b </a:t>
            </a: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长编码验证体系</a:t>
            </a:r>
            <a:endParaRPr/>
          </a:p>
        </p:txBody>
      </p:sp>
      <p:sp>
        <p:nvSpPr>
          <p:cNvPr id="458" name=""/>
          <p:cNvSpPr/>
          <p:nvPr/>
        </p:nvSpPr>
        <p:spPr>
          <a:xfrm rot="0" flipH="0" flipV="0">
            <a:off x="3086100" y="1524000"/>
            <a:ext cx="838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086100" y="1762125"/>
            <a:ext cx="8496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DV_TCON_C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现有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8B/10B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结构重建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420b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验证环境——接收端不看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RTL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，用脚本离线解码比对。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609600" y="2943225"/>
            <a:ext cx="2724150" cy="2971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0" b="1">
                <a:solidFill>
                  <a:srgbClr val="D99B2B"/>
                </a:solidFill>
                <a:latin typeface="Consolas"/>
                <a:ea typeface="Consolas"/>
              </a:rPr>
              <a:t>53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609600" y="5972175"/>
            <a:ext cx="2686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个规划验证</a:t>
            </a:r>
            <a:r>
              <a:rPr lang="en-US" sz="12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Case · </a:t>
            </a:r>
            <a:r>
              <a:rPr lang="zh-CN" sz="12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按命名规范分</a:t>
            </a:r>
            <a:r>
              <a:rPr lang="en-US" sz="12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7 </a:t>
            </a:r>
            <a:r>
              <a:rPr lang="zh-CN" sz="12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类</a:t>
            </a:r>
            <a:endParaRPr/>
          </a:p>
        </p:txBody>
      </p:sp>
      <p:sp>
        <p:nvSpPr>
          <p:cNvPr id="462" name=""/>
          <p:cNvSpPr/>
          <p:nvPr/>
        </p:nvSpPr>
        <p:spPr>
          <a:xfrm rot="0" flipH="0" flipV="0">
            <a:off x="4743450" y="3533775"/>
            <a:ext cx="6838950" cy="628650"/>
          </a:xfrm>
          <a:custGeom>
            <a:pathLst>
              <a:path w="718" h="66">
                <a:moveTo>
                  <a:pt x="0" y="65"/>
                </a:moveTo>
                <a:lnTo>
                  <a:pt x="718" y="65"/>
                </a:lnTo>
                <a:lnTo>
                  <a:pt x="718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7F4EC">
              <a:alpha val="18000"/>
            </a:srgbClr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4743450" y="3533775"/>
            <a:ext cx="952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7F4EC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5905500" y="3562350"/>
            <a:ext cx="567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项联调问题完成定位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5905500" y="38004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K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码错解、位序反转到映射表不一致，逐条给出根因</a:t>
            </a:r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4743450" y="4324350"/>
            <a:ext cx="6838950" cy="628650"/>
          </a:xfrm>
          <a:custGeom>
            <a:pathLst>
              <a:path w="718" h="66">
                <a:moveTo>
                  <a:pt x="0" y="65"/>
                </a:moveTo>
                <a:lnTo>
                  <a:pt x="718" y="65"/>
                </a:lnTo>
                <a:lnTo>
                  <a:pt x="718" y="66"/>
                </a:lnTo>
                <a:lnTo>
                  <a:pt x="0" y="66"/>
                </a:lnTo>
                <a:close/>
              </a:path>
            </a:pathLst>
          </a:custGeom>
          <a:solidFill>
            <a:srgbClr val="F7F4EC">
              <a:alpha val="18000"/>
            </a:srgbClr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743450" y="4324350"/>
            <a:ext cx="952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7F4EC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5905500" y="4352925"/>
            <a:ext cx="567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条脚本化证据链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5905500" y="4591050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抓取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—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解码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—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比对，不依赖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DUT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自身的解码结果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4743450" y="5114925"/>
            <a:ext cx="9525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D99B2B"/>
                </a:solidFill>
                <a:latin typeface="Consolas"/>
                <a:ea typeface="Consolas"/>
              </a:rPr>
              <a:t>5/5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905500" y="5143500"/>
            <a:ext cx="567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7F4EC"/>
                </a:solidFill>
                <a:latin typeface="Microsoft YaHei"/>
                <a:ea typeface="Microsoft YaHei"/>
              </a:rPr>
              <a:t>线上数据区域全部证实正确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5905500" y="538162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把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数据对不对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和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"RTL 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解码对不对</a:t>
            </a:r>
            <a:r>
              <a:rPr lang="en-US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050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彻底拆开，责任边界清晰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473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2 · 环境与方法&lt;/Text&gt;&#10;        &lt;Text style={{ fontSize: 34, fontWeight: 'bold', color: '#0F2438', lineHeight: 1.3, marginTop: 4 }}&gt;从零重建的 420b 验证环境&lt;/Text&gt;&#10;      &lt;/Box&gt;&#10;      &lt;Text style={{ fontSize: 14, color: 'rgba(15,36,56,0.5)', fontFamily: '&quot;Consolas&quot;, &quot;JetBrains Mono&quot;, monospace', marginTop: 22 }}&gt;08 / 19&lt;/Text&gt;&#10;    &lt;/Box&gt;&#10;&#10;    &lt;Box style={{ height: 510, flexDirection: 'row', gap: 28, marginTop: 14 }}&gt;&#10;&#10;      &lt;Box style={{ width: 652, background: '#0F2438', borderRadius: 12, padding: 18, flexDirection: 'column', justifyContent: 'space-between' }}&gt;&#10;        &lt;Box style={{ flexDirection: 'row', justifyContent: 'space-between', alignItems: 'center', height: 24 }}&gt;&#10;          &lt;Text style={{ fontSize: 13, color: '#D99B2B', letterSpacing: 1 }}&gt;420b 长编码验证体系 · 落地页&lt;/Text&gt;&#10;          &lt;Text style={{ fontSize: 12, color: 'rgba(247,244,236,0.45)', fontFamily: '&quot;Consolas&quot;, &quot;JetBrains Mono&quot;, monospace' }}&gt;0720v1&lt;/Text&gt;&#10;        &lt;/Box&gt;&#10;&#10;        &lt;Image src='assets/shot_longcode.png' style={{ width: '100%', height: 388, objectFit: 'contain', borderRadius: 6, border: '1px solid rgba(217,155,43,0.35)', marginTop: 10 }} /&gt;&#10;&#10;        &lt;Box style={{ flexDirection: 'row', justifyContent: 'space-between', alignItems: 'center', marginTop: 12 }}&gt;&#10;          &lt;Text style={{ fontSize: 13, color: 'rgba(247,244,236,0.65)' }}&gt;环境 longcode_ver / current_work · 宏 CHPI_MODE_420B&lt;/Text&gt;&#10;          &lt;Text style={{ fontSize: 13, color: '#D99B2B', fontFamily: '&quot;Consolas&quot;, &quot;JetBrains Mono&quot;, monospace' }}&gt;SPAN 07-15 → 07-22&lt;/Text&gt;&#10;        &lt;/Box&gt;&#10;      &lt;/Box&gt;&#10;&#10;      &lt;Box style={{ flex: 1, flexDirection: 'column', justifyContent: 'space-between' }}&gt;&#10;&#10;        &lt;Box style={{ flexDirection: 'row', gap: 16, alignItems: 'flex-start' }}&gt;&#10;          &lt;Text style={{ fontSize: 20, fontWeight: 'bold', color: '#D99B2B', fontFamily: '&quot;Consolas&quot;, &quot;JetBrains Mono&quot;, monospace', width: 30 }}&gt;01&lt;/Text&gt;&#10;          &lt;Box style={{ flex: 1 }}&gt;&#10;            &lt;Text style={{ fontSize: 17, fontWeight: 'bold', color: '#0F2438' }}&gt;复用现有结构，宏隔离新通路&lt;/Text&gt;&#10;            &lt;Text style={{ fontSize: 14, color: 'rgba(15,36,56,0.65)', lineHeight: 1.55, marginTop: 5 }}&gt;基于 DV_TCON_C 的 8B/10B 环境重建，420b 通路由 CHPI_MODE_420B 宏隔离，原流程不受影响。&lt;/Text&gt;&#10;          &lt;/Box&gt;&#10;        &lt;/Box&gt;&#10;&#10;        &lt;Box style={{ flexDirection: 'row', gap: 16, alignItems: 'flex-start' }}&gt;&#10;          &lt;Text style={{ fontSize: 20, fontWeight: 'bold', color: '#D99B2B', fontFamily: '&quot;Consolas&quot;, &quot;JetBrains Mono&quot;, monospace', width: 30 }}&gt;02&lt;/Text&gt;&#10;          &lt;Box style={{ flex: 1 }}&gt;&#10;            &lt;Text style={{ fontSize: 17, fontWeight: 'bold', color: '#0F2438' }}&gt;发送任务族与 8B/10B 一一对应&lt;/Text&gt;&#10;            &lt;Text style={{ fontSize: 14, color: 'rgba(15,36,56,0.65)', lineHeight: 1.55, marginTop: 5 }}&gt;LSP、Active、CTRL_F、VBlank、IDLE 与帧循环共 7 个任务族，便于两侧对照排查。&lt;/Text&gt;&#10;          &lt;/Box&gt;&#10;        &lt;/Box&gt;&#10;&#10;        &lt;Box style={{ flexDirection: 'row', gap: 16, alignItems: 'flex-start' }}&gt;&#10;          &lt;Text style={{ fontSize: 20, fontWeight: 'bold', color: '#D99B2B', fontFamily: '&quot;Consolas&quot;, &quot;JetBrains Mono&quot;, monospace', width: 30 }}&gt;03&lt;/Text&gt;&#10;          &lt;Box style={{ flex: 1 }}&gt;&#10;            &lt;Text style={{ fontSize: 17, fontWeight: 'bold', color: '#0F2438' }}&gt;独立实现的 Reference Model&lt;/Text&gt;&#10;            &lt;Text style={{ fontSize: 14, color: 'rgba(15,36,56,0.65)', lineHeight: 1.55, marginTop: 5 }}&gt;413b→420b 编码、tag 替换、G16 解扰与 70-bit 跨 lane 对齐，sequence 与 checker 共用同一份实现。&lt;/Text&gt;&#10;          &lt;/Box&gt;&#10;        &lt;/Box&gt;&#10;&#10;        &lt;Box style={{ flexDirection: 'row', gap: 16, alignItems: 'flex-start' }}&gt;&#10;          &lt;Text style={{ fontSize: 20, fontWeight: 'bold', color: '#D99B2B', fontFamily: '&quot;Consolas&quot;, &quot;JetBrains Mono&quot;, monospace', width: 30 }}&gt;04&lt;/Text&gt;&#10;          &lt;Box style={{ flex: 1 }}&gt;&#10;            &lt;Text style={{ fontSize: 17, fontWeight: 'bold', color: '#0F2438' }}&gt;bind 注入，零 RTL 修改抓取&lt;/Text&gt;&#10;            &lt;Text style={{ fontSize: 14, color: 'rgba(15,36,56,0.65)', lineHeight: 1.55, marginTop: 5 }}&gt;在 K 码对齐点直接抓线上 20-bit 数据，不动被测设计即可拿到全量证据。&lt;/Text&gt;&#10;          &lt;/Box&gt;&#10;        &lt;/Box&gt;&#10;&#10;        &lt;Box style={{ background: '#0F2438', borderRadius: 10, padding: '18px 22px', borderLeft: '3px solid #D99B2B' }}&gt;&#10;          &lt;Text style={{ fontSize: 16, color: '#F7F4EC', lineHeight: 1.6 }}&gt;&#10;            「验证重心从&lt;Text style={{ fontSize: 16, fontWeight: 'bold', color: '#D99B2B' }}&gt;数据对不对&lt;/Text&gt;，转到&lt;Text style={{ fontSize: 16, fontWeight: 'bold', color: '#D99B2B' }}&gt;RTL 解码链对不对&lt;/Text&gt;。」&#10;          &lt;/Text&gt;&#10;        &lt;/Box&gt;&#10;&#10;      &lt;/Box&gt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08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3924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环境与方法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39243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从零重建的</a:t>
            </a:r>
            <a:r>
              <a:rPr lang="en-US" sz="2550" b="1">
                <a:solidFill>
                  <a:srgbClr val="0F2438"/>
                </a:solidFill>
                <a:latin typeface="Microsoft YaHei"/>
                <a:ea typeface="Microsoft YaHei"/>
              </a:rPr>
              <a:t> 420b </a:t>
            </a: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验证环境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08 / 19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1181100"/>
            <a:ext cx="6210300" cy="485775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1847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420b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长编码验证体系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落地页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267450" y="1400175"/>
            <a:ext cx="381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0720v1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781050" y="1790700"/>
            <a:ext cx="5867400" cy="36957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2" name=""/>
          <p:cNvPicPr>
            <a:picLocks noChangeAspect="1"/>
          </p:cNvPicPr>
          <p:nvPr/>
        </p:nvPicPr>
        <p:blipFill>
          <a:blip r:embed="rId1"/>
          <a:srcRect l="386" t="0" r="386" b="0"/>
          <a:stretch>
            <a:fillRect/>
          </a:stretch>
        </p:blipFill>
        <p:spPr>
          <a:xfrm rot="0" flipH="0" flipV="0">
            <a:off x="781050" y="1790700"/>
            <a:ext cx="5867400" cy="3695700"/>
          </a:xfrm>
          <a:prstGeom prst="roundRect">
            <a:avLst>
              <a:gd name="adj" fmla="val 1546"/>
            </a:avLst>
          </a:prstGeom>
          <a:ln/>
        </p:spPr>
      </p:pic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781050" y="5715000"/>
            <a:ext cx="3324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环境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longcode_ver / current_work ·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宏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CHPI_MODE_420B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5419725" y="5715000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9B2B"/>
                </a:solidFill>
                <a:latin typeface="Consolas"/>
                <a:ea typeface="Consolas"/>
              </a:rPr>
              <a:t>SPAN 07-15 → 07-22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7086600" y="11811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7524750" y="1181100"/>
            <a:ext cx="405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复用现有结构，宏隔离新通路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524750" y="1428750"/>
            <a:ext cx="4057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基于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DV_TCON_C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8B/10B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环境重建，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420b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通路由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CHPI_MODE_420B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宏隔离，原流程不受影响。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7086600" y="223837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7524750" y="2238375"/>
            <a:ext cx="405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发送任务族与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8B/10B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一一对应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7524750" y="2486025"/>
            <a:ext cx="4057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LSP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Active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CTRL_F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VBlank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IDLE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与帧循环共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7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个任务族，便于两侧对照排查。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7086600" y="329565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7524750" y="3295650"/>
            <a:ext cx="405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独立实现的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Reference Model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7524750" y="3543300"/>
            <a:ext cx="4057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413b→420b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编码、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tag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替换、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G16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解扰与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70-bit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跨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lane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对齐，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sequence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checker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共用同一份实现。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7086600" y="43434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7524750" y="4343400"/>
            <a:ext cx="4057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bind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注入，零</a:t>
            </a:r>
            <a:r>
              <a:rPr lang="en-US" sz="1275" b="1">
                <a:solidFill>
                  <a:srgbClr val="0F2438"/>
                </a:solidFill>
                <a:latin typeface="Microsoft YaHei"/>
                <a:ea typeface="Microsoft YaHei"/>
              </a:rPr>
              <a:t> RTL </a:t>
            </a:r>
            <a:r>
              <a:rPr lang="zh-CN" sz="1275" b="1">
                <a:solidFill>
                  <a:srgbClr val="0F2438"/>
                </a:solidFill>
                <a:latin typeface="Microsoft YaHei"/>
                <a:ea typeface="Microsoft YaHei"/>
              </a:rPr>
              <a:t>修改抓取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7524750" y="4591050"/>
            <a:ext cx="40576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在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K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码对齐点直接抓线上</a:t>
            </a:r>
            <a:r>
              <a:rPr lang="en-US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20-bit </a:t>
            </a:r>
            <a:r>
              <a:rPr lang="zh-CN" sz="1050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数据，不动被测设计即可拿到全量证据。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7115175" y="5400675"/>
            <a:ext cx="4495800" cy="638175"/>
          </a:xfrm>
          <a:prstGeom prst="roundRect">
            <a:avLst>
              <a:gd name="adj" fmla="val 14925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498" name=""/>
          <p:cNvSpPr/>
          <p:nvPr/>
        </p:nvSpPr>
        <p:spPr>
          <a:xfrm rot="0" flipH="0" flipV="0">
            <a:off x="7115175" y="5400675"/>
            <a:ext cx="4495800" cy="638175"/>
          </a:xfrm>
          <a:custGeom>
            <a:pathLst>
              <a:path w="472" h="67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60"/>
                </a:lnTo>
                <a:cubicBezTo>
                  <a:pt x="3" y="63"/>
                  <a:pt x="5" y="66"/>
                  <a:pt x="8" y="67"/>
                </a:cubicBezTo>
                <a:cubicBezTo>
                  <a:pt x="3" y="66"/>
                  <a:pt x="0" y="62"/>
                  <a:pt x="0" y="5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7324725" y="5572125"/>
            <a:ext cx="40481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「验证重心从</a:t>
            </a: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数据对不对</a:t>
            </a: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，转到</a:t>
            </a:r>
            <a:r>
              <a:rPr lang="en-US" sz="1200">
                <a:solidFill>
                  <a:srgbClr val="F7F4EC"/>
                </a:solidFill>
                <a:latin typeface="Microsoft YaHei"/>
                <a:ea typeface="Microsoft YaHei"/>
              </a:rPr>
              <a:t>RTL </a:t>
            </a: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解码链对不对</a:t>
            </a:r>
            <a:r>
              <a:rPr lang="zh-CN" sz="1200">
                <a:solidFill>
                  <a:srgbClr val="F7F4EC"/>
                </a:solidFill>
                <a:latin typeface="Microsoft YaHei"/>
                <a:ea typeface="Microsoft YaHei"/>
              </a:rPr>
              <a:t>。」</a:t>
            </a:r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08 / 19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503" name="" descr="&lt;Slide style={{ width: 1280, height: 720, position: 'relative', background: '#0F2438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7)' strokeWidth={1} /&gt;&#10;    ))}&#10;    {Array.from({ length: 18 }).map((_, i) =&gt; (&#10;      &lt;line key={'h' + i} x1={0} y1={i * 40} x2={1280} y2={i * 40} stroke='rgba(217,155,43,0.07)' strokeWidth={1} /&gt;&#10;    ))}&#10;  &lt;/svg&gt;&#10;&#10;  &lt;Box style={{ position: 'relative', zIndex: 1,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2 · 排障实录&lt;/Text&gt;&#10;        &lt;Text style={{ fontSize: 34, fontWeight: 'bold', color: '#F7F4EC', lineHeight: 1.3, marginTop: 4 }}&gt;三条证据链定位根因&lt;/Text&gt;&#10;      &lt;/Box&gt;&#10;      &lt;Text style={{ fontSize: 14, color: 'rgba(247,244,236,0.5)', fontFamily: '&quot;Consolas&quot;, &quot;JetBrains Mono&quot;, monospace', marginTop: 22 }}&gt;09 / 19&lt;/Text&gt;&#10;    &lt;/Box&gt;&#10;&#10;    &lt;Box style={{ height: 510, flexDirection: 'row', gap: 28, marginTop: 14 }}&gt;&#10;&#10;      &lt;Box style={{ width: 697, background: '#1D3F5C', borderRadius: 12, padding: 18, flexDirection: 'column', justifyContent: 'space-between' }}&gt;&#10;        &lt;Box style={{ flexDirection: 'row', justifyContent: 'space-between', alignItems: 'center', height: 24 }}&gt;&#10;          &lt;Text style={{ fontSize: 13, color: '#D99B2B', letterSpacing: 1 }}&gt;排障实录 · 问题定位记录&lt;/Text&gt;&#10;          &lt;Text style={{ fontSize: 12, color: 'rgba(247,244,236,0.45)', fontFamily: '&quot;Consolas&quot;, &quot;JetBrains Mono&quot;, monospace' }}&gt;debug-log.html&lt;/Text&gt;&#10;        &lt;/Box&gt;&#10;        &lt;Image src='assets/shot_longcode_debug.png' style={{ width: '100%', height: 400, objectFit: 'contain', borderRadius: 6, border: '1px solid rgba(217,155,43,0.35)', marginTop: 10 }} /&gt;&#10;        &lt;Text style={{ fontSize: 13, color: 'rgba(247,244,236,0.65)', marginTop: 10 }}&gt;10 项问题逐条记录：现象 → 定位 → 解决 / 移交，含波形与脚本输出证据&lt;/Text&gt;&#10;      &lt;/Box&gt;&#10;&#10;      &lt;Box style={{ flex: 1, flexDirection: 'column', justifyContent: 'space-between' }}&gt;&#10;&#10;        &lt;Box style={{ flexDirection: 'row', gap: 18, alignItems: 'baseline' }}&gt;&#10;          &lt;Box style={{ flexDirection: 'column', alignItems: 'center' }}&gt;&#10;            &lt;Text style={{ fontSize: 48, fontWeight: 'bold', color: '#F7F4EC', fontFamily: '&quot;Consolas&quot;, &quot;JetBrains Mono&quot;, monospace', lineHeight: 1.0 }}&gt;10&lt;/Text&gt;&#10;            &lt;Text style={{ fontSize: 12, color: 'rgba(247,244,236,0.55)', marginTop: 6 }}&gt;定位问题&lt;/Text&gt;&#10;          &lt;/Box&gt;&#10;          &lt;Box style={{ flexDirection: 'column', alignItems: 'center' }}&gt;&#10;            &lt;Text style={{ fontSize: 48, fontWeight: 'bold', color: '#D99B2B', fontFamily: '&quot;Consolas&quot;, &quot;JetBrains Mono&quot;, monospace', lineHeight: 1.0 }}&gt;6&lt;/Text&gt;&#10;            &lt;Text style={{ fontSize: 12, color: 'rgba(247,244,236,0.55)', marginTop: 6 }}&gt;已解决 / 移交&lt;/Text&gt;&#10;          &lt;/Box&gt;&#10;          &lt;Box style={{ flexDirection: 'column', alignItems: 'center' }}&gt;&#10;            &lt;Text style={{ fontSize: 48, fontWeight: 'bold', color: 'rgba(247,244,236,0.7)', fontFamily: '&quot;Consolas&quot;, &quot;JetBrains Mono&quot;, monospace', lineHeight: 1.0 }}&gt;4&lt;/Text&gt;&#10;            &lt;Text style={{ fontSize: 12, color: 'rgba(247,244,236,0.55)', marginTop: 6 }}&gt;待跟进&lt;/Text&gt;&#10;          &lt;/Box&gt;&#10;        &lt;/Box&gt;&#10;&#10;        &lt;Box style={{ flexDirection: 'column', gap: 14 }}&gt;&#10;          &lt;Box style={{ flexDirection: 'row', gap: 14, alignItems: 'flex-start' }}&gt;&#10;            &lt;Text style={{ fontSize: 15, fontWeight: 'bold', color: '#D99B2B', fontFamily: '&quot;Consolas&quot;, &quot;JetBrains Mono&quot;, monospace', width: 26 }}&gt;A&lt;/Text&gt;&#10;            &lt;Box style={{ flex: 1 }}&gt;&#10;              &lt;Text style={{ fontSize: 16, fontWeight: 'bold', color: '#F7F4EC' }}&gt;替换点判定&lt;/Text&gt;&#10;              &lt;Text style={{ fontSize: 13, color: 'rgba(247,244,236,0.62)', marginTop: 3 }}&gt;check_rtl_tag.py 报告 0 异常 → 判定逻辑本身没问题&lt;/Text&gt;&#10;            &lt;/Box&gt;&#10;          &lt;/Box&gt;&#10;          &lt;Box style={{ flexDirection: 'row', gap: 14, alignItems: 'flex-start' }}&gt;&#10;            &lt;Text style={{ fontSize: 15, fontWeight: 'bold', color: '#D99B2B', fontFamily: '&quot;Consolas&quot;, &quot;JetBrains Mono&quot;, monospace', width: 26 }}&gt;B&lt;/Text&gt;&#10;            &lt;Box style={{ flex: 1 }}&gt;&#10;              &lt;Text style={{ fontSize: 16, fontWeight: 'bold', color: '#F7F4EC' }}&gt;错误层级分离&lt;/Text&gt;&#10;              &lt;Text style={{ fontSize: 13, color: 'rgba(247,244,236,0.62)', marginTop: 3 }}&gt;decode_max.py 对比 golden，锁定错误发生在替换之后还是替换本身&lt;/Text&gt;&#10;            &lt;/Box&gt;&#10;          &lt;/Box&gt;&#10;          &lt;Box style={{ flexDirection: 'row', gap: 14, alignItems: 'flex-start' }}&gt;&#10;            &lt;Text style={{ fontSize: 15, fontWeight: 'bold', color: '#D99B2B', fontFamily: '&quot;Consolas&quot;, &quot;JetBrains Mono&quot;, monospace', width: 26 }}&gt;C&lt;/Text&gt;&#10;            &lt;Box style={{ flex: 1 }}&gt;&#10;              &lt;Text style={{ fontSize: 16, fontWeight: 'bold', color: '#F7F4EC' }}&gt;收发全量对比&lt;/Text&gt;&#10;              &lt;Text style={{ fontSize: 13, color: 'rgba(247,244,236,0.62)', marginTop: 3 }}&gt;compare_pkt20.py 以 DAP 全量流确认发送与线上数据完全一致&lt;/Text&gt;&#10;            &lt;/Box&gt;&#10;          &lt;/Box&gt;&#10;        &lt;/Box&gt;&#10;&#10;        &lt;Box style={{ background: 'rgba(217,155,43,0.14)', borderRadius: 10, padding: '16px 20px', borderLeft: '3px solid #D99B2B' }}&gt;&#10;          &lt;Text style={{ fontSize: 12, color: '#D99B2B', letterSpacing: 1 }}&gt;根因结论 · 0722&lt;/Text&gt;&#10;          &lt;Text style={{ fontSize: 15, color: '#F7F4EC', lineHeight: 1.6, marginTop: 8 }}&gt;&#10;            问题&lt;Text style={{ fontSize: 15, fontWeight: 'bold', color: '#D99B2B' }}&gt;不在还原/重组路径&lt;/Text&gt;，而是 tag_value 在 420-bit 块边界提前更新到下一块的 tag，使当前块末尾的真实替换组用错 tag、未被替换。&#10;          &lt;/Text&gt;&#10;        &lt;/Box&gt;&#10;&#10;      &lt;/Box&gt;&#10;    &lt;/Box&gt;&#10;&#10;    &lt;Box style={{ flex: 1, flexDirection: 'row', justifyContent: 'space-between', alignItems: 'flex-end' }}&gt;&#10;      &lt;Text style={{ fontSize: 14, color: 'rgba(247,244,23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247,244,236,0.45)', fontFamily: '&quot;Consolas&quot;, &quot;JetBrains Mono&quot;, monospace' }}&gt;09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438"/>
          </a:solidFill>
          <a:ln/>
        </p:spPr>
        <p:txBody>
          <a:bodyPr/>
          <a:p/>
        </p:txBody>
      </p:sp>
      <p:pic>
        <p:nvPicPr>
          <p:cNvPr id="5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914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02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排障实录</a:t>
            </a:r>
            <a:endParaRPr/>
          </a:p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29146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三条证据链定位根因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0000"/>
                  </a:srgbClr>
                </a:solidFill>
                <a:latin typeface="Consolas"/>
                <a:ea typeface="Consolas"/>
              </a:rPr>
              <a:t>09 / 19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1181100"/>
            <a:ext cx="6638925" cy="4857750"/>
          </a:xfrm>
          <a:prstGeom prst="roundRect">
            <a:avLst>
              <a:gd name="adj" fmla="val 2353"/>
            </a:avLst>
          </a:prstGeom>
          <a:solidFill>
            <a:srgbClr val="1D3F5C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81050" y="139065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排障实录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问题定位记录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191250" y="1400175"/>
            <a:ext cx="8858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debug-log.html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781050" y="1743075"/>
            <a:ext cx="6296025" cy="38100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13" name=""/>
          <p:cNvPicPr>
            <a:picLocks noChangeAspect="1"/>
          </p:cNvPicPr>
          <p:nvPr/>
        </p:nvPicPr>
        <p:blipFill>
          <a:blip r:embed="rId2"/>
          <a:srcRect l="0" t="1588" r="0" b="1588"/>
          <a:stretch>
            <a:fillRect/>
          </a:stretch>
        </p:blipFill>
        <p:spPr>
          <a:xfrm rot="0" flipH="0" flipV="0">
            <a:off x="781050" y="1743075"/>
            <a:ext cx="6296025" cy="3810000"/>
          </a:xfrm>
          <a:prstGeom prst="roundRect">
            <a:avLst>
              <a:gd name="adj" fmla="val 1500"/>
            </a:avLst>
          </a:prstGeom>
          <a:ln/>
        </p:spPr>
      </p:pic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781050" y="5715000"/>
            <a:ext cx="6296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项问题逐条记录：现象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定位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解决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移交，含波形与脚本输出证据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515225" y="1181100"/>
            <a:ext cx="50482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7F4EC"/>
                </a:solidFill>
                <a:latin typeface="Consolas"/>
                <a:ea typeface="Consolas"/>
              </a:rPr>
              <a:t>10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543800" y="17907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定位问题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410575" y="1181100"/>
            <a:ext cx="25717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99B2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8191500" y="1790700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已解决</a:t>
            </a:r>
            <a:r>
              <a:rPr lang="en-US" sz="900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移交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9105900" y="1181100"/>
            <a:ext cx="257175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7F4EC">
                    <a:alpha val="70000"/>
                  </a:srgbClr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9058275" y="17907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待跟进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515225" y="254317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9B2B"/>
                </a:solidFill>
                <a:latin typeface="Consolas"/>
                <a:ea typeface="Consolas"/>
              </a:rPr>
              <a:t>A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896225" y="2543175"/>
            <a:ext cx="3686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替换点判定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896225" y="2762250"/>
            <a:ext cx="3686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check_rtl_tag.py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报告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0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异常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判定逻辑本身没问题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515225" y="3048000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9B2B"/>
                </a:solidFill>
                <a:latin typeface="Consolas"/>
                <a:ea typeface="Consolas"/>
              </a:rPr>
              <a:t>B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896225" y="3048000"/>
            <a:ext cx="3686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错误层级分离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896225" y="3267075"/>
            <a:ext cx="3686175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decode_max.py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对比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golden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，锁定错误发生在替换之后还是替换本身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515225" y="3705225"/>
            <a:ext cx="24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9B2B"/>
                </a:solidFill>
                <a:latin typeface="Consolas"/>
                <a:ea typeface="Consolas"/>
              </a:rPr>
              <a:t>C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896225" y="3705225"/>
            <a:ext cx="3686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收发全量对比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896225" y="3924300"/>
            <a:ext cx="3686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compare_pkt20.py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以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DAP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全量流确认发送与线上数据完全一致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7543800" y="4686300"/>
            <a:ext cx="4067175" cy="1352550"/>
          </a:xfrm>
          <a:prstGeom prst="roundRect">
            <a:avLst>
              <a:gd name="adj" fmla="val 7042"/>
            </a:avLst>
          </a:prstGeom>
          <a:solidFill>
            <a:srgbClr val="D99B2B">
              <a:alpha val="14000"/>
            </a:srgbClr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7543800" y="4686300"/>
            <a:ext cx="4067175" cy="1352550"/>
          </a:xfrm>
          <a:custGeom>
            <a:pathLst>
              <a:path w="427" h="142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35"/>
                </a:lnTo>
                <a:cubicBezTo>
                  <a:pt x="3" y="138"/>
                  <a:pt x="5" y="141"/>
                  <a:pt x="8" y="142"/>
                </a:cubicBezTo>
                <a:cubicBezTo>
                  <a:pt x="3" y="141"/>
                  <a:pt x="0" y="137"/>
                  <a:pt x="0" y="132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734300" y="4838700"/>
            <a:ext cx="3657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D99B2B"/>
                </a:solidFill>
                <a:latin typeface="Microsoft YaHei"/>
                <a:ea typeface="Microsoft YaHei"/>
              </a:rPr>
              <a:t>根因结论</a:t>
            </a:r>
            <a:r>
              <a:rPr lang="en-US" sz="900" spc="75">
                <a:solidFill>
                  <a:srgbClr val="D99B2B"/>
                </a:solidFill>
                <a:latin typeface="Microsoft YaHei"/>
                <a:ea typeface="Microsoft YaHei"/>
              </a:rPr>
              <a:t> · 0722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734300" y="5057775"/>
            <a:ext cx="36576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问题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不在还原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重组路径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，而是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tag_value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在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420-bit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块边界提前更新到下一块的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tag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，使当前块末尾的真实替换组用错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tag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、未被替换。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09 / 19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4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relative', zIndex: 1, height: 640, flexDirection: 'column' }}&gt;&#10;&#10;    &lt;Box style={{ height: 190, flexDirection: 'row', alignItems: 'flex-start', gap: 40 }}&gt;&#10;      &lt;Box style={{ width: 220, flexDirection: 'column' }}&gt;&#10;        &lt;Text style={{ fontSize: 13, color: '#D99B2B', letterSpacing: 3 }}&gt;CHAPTER 03&lt;/Text&gt;&#10;        &lt;Text style={{ fontSize: 13, color: 'rgba(247,244,236,0.45)', letterSpacing: 1, marginTop: 8 }}&gt;主题二&lt;/Text&gt;&#10;      &lt;/Box&gt;&#10;      &lt;Box style={{ flex: 1, flexDirection: 'column' }}&gt;&#10;        &lt;Text style={{ fontSize: 68, fontWeight: 'bold', color: '#F7F4EC', lineHeight: 1.15 }}&gt;LC_CPUWR 代码修改全记录&lt;/Text&gt;&#10;        &lt;Text style={{ fontSize: 19, color: 'rgba(247,244,236,0.72)', lineHeight: 1.6, marginTop: 20 }}&gt;&#10;          一个寄存器接口模块从 0612 到 0909v1 的完整演进档案——每一步都留档、可回溯、可验收。&#10;        &lt;/Text&gt;&#10;      &lt;/Box&gt;&#10;    &lt;/Box&gt;&#10;&#10;    &lt;Box style={{ height: 270, flexDirection: 'column' }}&gt;&#10;      &lt;Box style={{ height: 3, width: '100%', background: 'rgba(217,155,43,0.55)' }} /&gt;&#10;      &lt;Box style={{ flexDirection: 'row', marginTop: 26 }}&gt;&#10;&#10;        &lt;Box style={{ flex: 1, flexDirection: 'column', paddingRight: 22 }}&gt;&#10;          &lt;Box style={{ width: 14, height: 14, borderRadius: 7, background: '#D99B2B' }} /&gt;&#10;          &lt;Text style={{ fontSize: 22, fontWeight: 'bold', color: '#D99B2B', fontFamily: '&quot;Consolas&quot;, &quot;JetBrains Mono&quot;, monospace', marginTop: 16 }}&gt;06-15&lt;/Text&gt;&#10;          &lt;Text style={{ fontSize: 15, fontWeight: 'bold', color: '#F7F4EC', marginTop: 8 }}&gt;归档体系建立&lt;/Text&gt;&#10;          &lt;Text style={{ fontSize: 13, color: 'rgba(247,244,236,0.6)', lineHeight: 1.55, marginTop: 5 }}&gt;独立版本归档目录落地，支持回传前 review 与追溯&lt;/Text&gt;&#10;        &lt;/Box&gt;&#10;&#10;        &lt;Box style={{ flex: 1, flexDirection: 'column', paddingRight: 22 }}&gt;&#10;          &lt;Box style={{ width: 14, height: 14, borderRadius: 7, background: '#D99B2B' }} /&gt;&#10;          &lt;Text style={{ fontSize: 22, fontWeight: 'bold', color: '#D99B2B', fontFamily: '&quot;Consolas&quot;, &quot;JetBrains Mono&quot;, monospace', marginTop: 16 }}&gt;07-14&lt;/Text&gt;&#10;          &lt;Text style={{ fontSize: 15, fontWeight: 'bold', color: '#F7F4EC', marginTop: 8 }}&gt;chip_sel 默认值&lt;/Text&gt;&#10;          &lt;Text style={{ fontSize: 13, color: 'rgba(247,244,236,0.6)', lineHeight: 1.55, marginTop: 5 }}&gt;双模式复位默认值 + I2C 回读 mux 打通&lt;/Text&gt;&#10;        &lt;/Box&gt;&#10;&#10;        &lt;Box style={{ flex: 1, flexDirection: 'column', paddingRight: 22 }}&gt;&#10;          &lt;Box style={{ width: 14, height: 14, borderRadius: 7, background: '#D99B2B' }} /&gt;&#10;          &lt;Text style={{ fontSize: 22, fontWeight: 'bold', color: '#D99B2B', fontFamily: '&quot;Consolas&quot;, &quot;JetBrains Mono&quot;, monospace', marginTop: 16 }}&gt;07-21&lt;/Text&gt;&#10;          &lt;Text style={{ fontSize: 15, fontWeight: 'bold', color: '#F7F4EC', marginTop: 8 }}&gt;拍重组 16→24bit&lt;/Text&gt;&#10;          &lt;Text style={{ fontSize: 13, color: 'rgba(247,244,236,0.6)', lineHeight: 1.55, marginTop: 5 }}&gt;协议级变更：每个 ADD 步进写 3 个寄存器&lt;/Text&gt;&#10;        &lt;/Box&gt;&#10;&#10;        &lt;Box style={{ flex: 1, flexDirection: 'column', paddingRight: 22 }}&gt;&#10;          &lt;Box style={{ width: 14, height: 14, borderRadius: 7, background: '#D99B2B' }} /&gt;&#10;          &lt;Text style={{ fontSize: 22, fontWeight: 'bold', color: '#D99B2B', fontFamily: '&quot;Consolas&quot;, &quot;JetBrains Mono&quot;, monospace', marginTop: 16 }}&gt;08-07&lt;/Text&gt;&#10;          &lt;Text style={{ fontSize: 15, fontWeight: 'bold', color: '#F7F4EC', marginTop: 8 }}&gt;新架构切换&lt;/Text&gt;&#10;          &lt;Text style={{ fontSize: 13, color: 'rgba(247,244,236,0.6)', lineHeight: 1.55, marginTop: 5 }}&gt;LINK_CONFIG_CTRL 取代 LINK_LOGIC 承载寄存器通路&lt;/Text&gt;&#10;        &lt;/Box&gt;&#10;&#10;        &lt;Box style={{ flex: 1, flexDirection: 'column' }}&gt;&#10;          &lt;Box style={{ width: 14, height: 14, borderRadius: 7, background: '#D99B2B' }} /&gt;&#10;          &lt;Text style={{ fontSize: 22, fontWeight: 'bold', color: '#D99B2B', fontFamily: '&quot;Consolas&quot;, &quot;JetBrains Mono&quot;, monospace', marginTop: 16 }}&gt;09-09v1&lt;/Text&gt;&#10;          &lt;Text style={{ fontSize: 15, fontWeight: 'bold', color: '#F7F4EC', marginTop: 8 }}&gt;SCREN 口径对齐&lt;/Text&gt;&#10;          &lt;Text style={{ fontSize: 13, color: 'rgba(247,244,236,0.6)', lineHeight: 1.55, marginTop: 5 }}&gt;全平台 scramble 统一由软件控制，与服务器口径一致&lt;/Text&gt;&#10;        &lt;/Box&gt;&#10;&#10;      &lt;/Box&gt;&#10;    &lt;/Box&gt;&#10;&#10;    &lt;Box style={{ height: 180, flexDirection: 'row', gap: 28, alignItems: 'center' }}&gt;&#10;&#10;      &lt;Box style={{ flex: 1, flexDirection: 'column', justifyContent: 'center', height: 120, background: 'rgba(247,244,236,0.08)', borderRadius: 10, padding: '0 24px' }}&gt;&#10;        &lt;Text style={{ fontSize: 44, fontWeight: 'bold', color: '#F7F4EC', fontFamily: '&quot;Consolas&quot;, &quot;JetBrains Mono&quot;, monospace', lineHeight: 1.0 }}&gt;10+&lt;/Text&gt;&#10;        &lt;Text style={{ fontSize: 14, color: 'rgba(247,244,236,0.62)', marginTop: 10 }}&gt;个归档版本 · 0612 → 0909v1&lt;/Text&gt;&#10;      &lt;/Box&gt;&#10;&#10;      &lt;Box style={{ flex: 1, flexDirection: 'column', justifyContent: 'center', height: 120, background: 'rgba(247,244,236,0.08)', borderRadius: 10, padding: '0 24px' }}&gt;&#10;        &lt;Text style={{ fontSize: 44, fontWeight: 'bold', color: '#F7F4EC', fontFamily: '&quot;Consolas&quot;, &quot;JetBrains Mono&quot;, monospace', lineHeight: 1.0 }}&gt;8&lt;/Text&gt;&#10;        &lt;Text style={{ fontSize: 14, color: 'rgba(247,244,236,0.62)', marginTop: 10 }}&gt;个章节页面 · 时间线 / 校验和 / 映射 / 核对&lt;/Text&gt;&#10;      &lt;/Box&gt;&#10;&#10;      &lt;Box style={{ flex: 1, flexDirection: 'column', justifyContent: 'center', height: 120, background: 'rgba(217,155,43,0.14)', borderRadius: 10, padding: '0 24px', borderLeft: '3px solid #D99B2B' }}&gt;&#10;        &lt;Text style={{ fontSize: 44, fontWeight: 'bold', color: '#D99B2B', fontFamily: '&quot;Consolas&quot;, &quot;JetBrains Mono&quot;, monospace', lineHeight: 1.0 }}&gt;3&lt;/Text&gt;&#10;        &lt;Text style={{ fontSize: 14, color: 'rgba(247,244,236,0.68)', marginTop: 10 }}&gt;道验收关 · 语法检查 / 代码评审 / 信号追踪&lt;/Text&gt;&#10;      &lt;/Box&gt;&#10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主题二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3086100" y="381000"/>
            <a:ext cx="84963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5100" b="1">
                <a:solidFill>
                  <a:srgbClr val="F7F4EC"/>
                </a:solidFill>
                <a:latin typeface="Microsoft YaHei"/>
                <a:ea typeface="Microsoft YaHei"/>
              </a:rPr>
              <a:t>LC_CPUWR </a:t>
            </a: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代码修改全记录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086100" y="1466850"/>
            <a:ext cx="8496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一个寄存器接口模块从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0612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到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0909v1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的完整演进档案——每一步都留档、可回溯、可验收。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2190750"/>
            <a:ext cx="10972800" cy="28575"/>
          </a:xfrm>
          <a:prstGeom prst="rect">
            <a:avLst/>
          </a:prstGeom>
          <a:solidFill>
            <a:srgbClr val="D99B2B">
              <a:alpha val="55000"/>
            </a:srgbClr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09600" y="24669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09600" y="2752725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06-15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3086100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归档体系建立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3305175"/>
            <a:ext cx="1981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独立版本归档目录落地，支持回传前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review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与追溯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2800350" y="24669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2800350" y="2752725"/>
            <a:ext cx="1990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07-14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800350" y="30861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>chip_sel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默认值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2800350" y="3305175"/>
            <a:ext cx="19907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双模式复位默认值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+ I2C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回读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mux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打通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5000625" y="24669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000625" y="2752725"/>
            <a:ext cx="1981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07-21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000625" y="3086100"/>
            <a:ext cx="1981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拍重组</a:t>
            </a: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> 16→24bit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5000625" y="3305175"/>
            <a:ext cx="1981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协议级变更：每个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ADD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步进写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个寄存器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191375" y="24669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91375" y="2752725"/>
            <a:ext cx="1990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08-07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191375" y="30861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新架构切换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191375" y="3305175"/>
            <a:ext cx="19907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LINK_CONFIG_CTRL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取代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LINK_LOGIC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承载寄存器通路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391650" y="246697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91650" y="27527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09-09v1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9391650" y="3086100"/>
            <a:ext cx="2190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7F4EC"/>
                </a:solidFill>
                <a:latin typeface="Microsoft YaHei"/>
                <a:ea typeface="Microsoft YaHei"/>
              </a:rPr>
              <a:t>SCREN </a:t>
            </a: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口径对齐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391650" y="3305175"/>
            <a:ext cx="21907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全平台</a:t>
            </a:r>
            <a:r>
              <a:rPr lang="en-US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 scramble </a:t>
            </a:r>
            <a:r>
              <a:rPr lang="zh-CN" sz="975">
                <a:solidFill>
                  <a:srgbClr val="F7F4EC">
                    <a:alpha val="60000"/>
                  </a:srgbClr>
                </a:solidFill>
                <a:latin typeface="Microsoft YaHei"/>
                <a:ea typeface="Microsoft YaHei"/>
              </a:rPr>
              <a:t>统一由软件控制，与服务器口径一致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5048250"/>
            <a:ext cx="3476625" cy="1143000"/>
          </a:xfrm>
          <a:prstGeom prst="roundRect">
            <a:avLst>
              <a:gd name="adj" fmla="val 8333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8200" y="5238750"/>
            <a:ext cx="30194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7F4EC"/>
                </a:solidFill>
                <a:latin typeface="Consolas"/>
                <a:ea typeface="Consolas"/>
              </a:rPr>
              <a:t>10+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38200" y="5838825"/>
            <a:ext cx="3019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个归档版本</a:t>
            </a:r>
            <a:r>
              <a:rPr lang="en-US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· 0612 → 0909v1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4352925" y="5048250"/>
            <a:ext cx="3486150" cy="1143000"/>
          </a:xfrm>
          <a:prstGeom prst="roundRect">
            <a:avLst>
              <a:gd name="adj" fmla="val 8333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581525" y="5238750"/>
            <a:ext cx="3028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7F4EC"/>
                </a:solidFill>
                <a:latin typeface="Consolas"/>
                <a:ea typeface="Consolas"/>
              </a:rPr>
              <a:t>8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581525" y="5838825"/>
            <a:ext cx="3028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个章节页面</a:t>
            </a:r>
            <a:r>
              <a:rPr lang="en-US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时间线</a:t>
            </a:r>
            <a:r>
              <a:rPr lang="en-US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校验和</a:t>
            </a:r>
            <a:r>
              <a:rPr lang="en-US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映射</a:t>
            </a:r>
            <a:r>
              <a:rPr lang="en-US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核对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8134350" y="5048250"/>
            <a:ext cx="3476625" cy="1143000"/>
          </a:xfrm>
          <a:prstGeom prst="roundRect">
            <a:avLst>
              <a:gd name="adj" fmla="val 8333"/>
            </a:avLst>
          </a:prstGeom>
          <a:solidFill>
            <a:srgbClr val="D99B2B">
              <a:alpha val="14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8134350" y="5048250"/>
            <a:ext cx="3476625" cy="1143000"/>
          </a:xfrm>
          <a:custGeom>
            <a:pathLst>
              <a:path w="365" h="12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13"/>
                </a:lnTo>
                <a:cubicBezTo>
                  <a:pt x="3" y="116"/>
                  <a:pt x="5" y="119"/>
                  <a:pt x="8" y="120"/>
                </a:cubicBezTo>
                <a:cubicBezTo>
                  <a:pt x="3" y="119"/>
                  <a:pt x="0" y="115"/>
                  <a:pt x="0" y="11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362950" y="5238750"/>
            <a:ext cx="29908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9B2B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62950" y="58388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道验收关</a:t>
            </a:r>
            <a:r>
              <a:rPr lang="en-US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语法检查</a:t>
            </a:r>
            <a:r>
              <a:rPr lang="en-US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代码评审</a:t>
            </a:r>
            <a:r>
              <a:rPr lang="en-US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F7F4EC">
                    <a:alpha val="68000"/>
                  </a:srgbClr>
                </a:solidFill>
                <a:latin typeface="Microsoft YaHei"/>
                <a:ea typeface="Microsoft YaHei"/>
              </a:rPr>
              <a:t>信号追踪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62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3 · 版本演进&lt;/Text&gt;&#10;        &lt;Text style={{ fontSize: 34, fontWeight: 'bold', color: '#0F2438', lineHeight: 1.3, marginTop: 4 }}&gt;10+ 个版本的演进档案&lt;/Text&gt;&#10;      &lt;/Box&gt;&#10;      &lt;Text style={{ fontSize: 14, color: 'rgba(15,36,56,0.5)', fontFamily: '&quot;Consolas&quot;, &quot;JetBrains Mono&quot;, monospace', marginTop: 22 }}&gt;11 / 19&lt;/Text&gt;&#10;    &lt;/Box&gt;&#10;&#10;    &lt;Box style={{ height: 346, background: '#0F2438', borderRadius: 12, padding: 16, flexDirection: 'column', marginTop: 14 }}&gt;&#10;      &lt;Box style={{ flexDirection: 'row', justifyContent: 'space-between', alignItems: 'center', height: 24 }}&gt;&#10;        &lt;Text style={{ fontSize: 13, color: '#D99B2B', letterSpacing: 1 }}&gt;核心变更时间线 · 从 0612 基线重构到 0909v1 SCREN 口径对齐&lt;/Text&gt;&#10;        &lt;Text style={{ fontSize: 12, color: 'rgba(247,244,236,0.45)', fontFamily: '&quot;Consolas&quot;, &quot;JetBrains Mono&quot;, monospace' }}&gt;timeline.html&lt;/Text&gt;&#10;      &lt;/Box&gt;&#10;      &lt;Image src='assets/banner_lc_timeline.png' style={{ width: '100%', height: 280, objectFit: 'cover', borderRadius: 6, border: '1px solid rgba(217,155,43,0.35)', marginTop: 10 }} /&gt;&#10;    &lt;/Box&gt;&#10;&#10;    &lt;Box style={{ height: 150, flexDirection: 'row', gap: 20, marginTop: 14 }}&gt;&#10;&#10;      &lt;Box style={{ flex: 1, background: '#0F2438', borderRadius: 10, padding: '16px 18px', flexDirection: 'column', borderTop: '3px solid #D99B2B' }}&gt;&#10;        &lt;Text style={{ fontSize: 15, fontWeight: 'bold', color: '#F7F4EC' }}&gt;校验和机制收敛&lt;/Text&gt;&#10;        &lt;Text style={{ fontSize: 13, color: 'rgba(247,244,236,0.65)', lineHeight: 1.6, marginTop: 8 }}&gt;&#10;          双段 checksum 简化为 Seg1 单段；新增连续 5 帧 mismatch 自动旁路直写；LSP 结束后首次指令改直写，解决关键信号滞后问题。&#10;        &lt;/Text&gt;&#10;      &lt;/Box&gt;&#10;&#10;      &lt;Box style={{ flex: 1, background: '#0F2438', borderRadius: 10, padding: '16px 18px', flexDirection: 'column', borderTop: '3px solid #D99B2B' }}&gt;&#10;        &lt;Text style={{ fontSize: 15, fontWeight: 'bold', color: '#F7F4EC' }}&gt;命名与映射规范化&lt;/Text&gt;&#10;        &lt;Text style={{ fontSize: 13, color: 'rgba(247,244,236,0.65)', lineHeight: 1.6, marginTop: 8 }}&gt;&#10;          寄存器命名从十六进制改十进制（REG32~56 / REG80~86）；CHPI_SEL 全量改名 CHIP_SEL；位段迁移与错位修正逐条对齐 Excel。&#10;        &lt;/Text&gt;&#10;      &lt;/Box&gt;&#10;&#10;      &lt;Box style={{ flex: 1, background: '#0F2438', borderRadius: 10, padding: '16px 18px', flexDirection: 'column', borderTop: '3px solid #D99B2B' }}&gt;&#10;        &lt;Text style={{ fontSize: 15, fontWeight: 'bold', color: '#F7F4EC' }}&gt;架构与新特性&lt;/Text&gt;&#10;        &lt;Text style={{ fontSize: 13, color: 'rgba(247,244,236,0.65)', lineHeight: 1.6, marginTop: 8 }}&gt;&#10;          CONFIG_DATA 拍重组 16bit→24bit（每步 3 寄存器）；LINK_CONFIG_CTRL 新架构承载寄存器通路；SCREN 口径对齐服务器。&#10;        &lt;/Text&gt;&#10;      &lt;/Box&gt;&#10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11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3333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03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版本演进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33337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0F2438"/>
                </a:solidFill>
                <a:latin typeface="Microsoft YaHei"/>
                <a:ea typeface="Microsoft YaHei"/>
              </a:rPr>
              <a:t>10+ </a:t>
            </a: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个版本的演进档案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11 / 19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09600" y="1181100"/>
            <a:ext cx="10972800" cy="3295650"/>
          </a:xfrm>
          <a:prstGeom prst="roundRect">
            <a:avLst>
              <a:gd name="adj" fmla="val 3468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895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核心变更时间线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从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0612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基线重构到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0909v1 SCREN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口径对齐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0610850" y="138112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timeline.html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762000" y="1657350"/>
            <a:ext cx="10668000" cy="26670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62000" y="1657350"/>
            <a:ext cx="10668000" cy="2667000"/>
          </a:xfrm>
          <a:prstGeom prst="roundRect">
            <a:avLst>
              <a:gd name="adj" fmla="val 2143"/>
            </a:avLst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609600" y="4638675"/>
            <a:ext cx="3533775" cy="1428750"/>
          </a:xfrm>
          <a:prstGeom prst="roundRect">
            <a:avLst>
              <a:gd name="adj" fmla="val 6667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4638675"/>
            <a:ext cx="3533775" cy="1428750"/>
          </a:xfrm>
          <a:custGeom>
            <a:pathLst>
              <a:path w="371" h="150">
                <a:moveTo>
                  <a:pt x="361" y="0"/>
                </a:moveTo>
                <a:cubicBezTo>
                  <a:pt x="366" y="0"/>
                  <a:pt x="370" y="3"/>
                  <a:pt x="371" y="8"/>
                </a:cubicBezTo>
                <a:cubicBezTo>
                  <a:pt x="370" y="5"/>
                  <a:pt x="367" y="3"/>
                  <a:pt x="36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81050" y="4791075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校验和机制收敛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81050" y="5038725"/>
            <a:ext cx="319087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双段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checksum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简化为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Seg1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单段；新增连续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5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帧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mismatch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自动旁路直写；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LSP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结束后首次指令改直写，解决关键信号滞后问题。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333875" y="4638675"/>
            <a:ext cx="3524250" cy="1428750"/>
          </a:xfrm>
          <a:prstGeom prst="roundRect">
            <a:avLst>
              <a:gd name="adj" fmla="val 6667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4333875" y="4638675"/>
            <a:ext cx="3524250" cy="1428750"/>
          </a:xfrm>
          <a:custGeom>
            <a:pathLst>
              <a:path w="370" h="150">
                <a:moveTo>
                  <a:pt x="360" y="0"/>
                </a:moveTo>
                <a:cubicBezTo>
                  <a:pt x="365" y="0"/>
                  <a:pt x="369" y="3"/>
                  <a:pt x="370" y="8"/>
                </a:cubicBezTo>
                <a:cubicBezTo>
                  <a:pt x="369" y="5"/>
                  <a:pt x="366" y="3"/>
                  <a:pt x="36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60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505325" y="47910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命名与映射规范化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505325" y="5038725"/>
            <a:ext cx="31813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寄存器命名从十六进制改十进制（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REG32~56 / REG80~86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）；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CHPI_SEL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全量改名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CHIP_SEL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；位段迁移与错位修正逐条对齐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Excel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048625" y="4638675"/>
            <a:ext cx="3533775" cy="1428750"/>
          </a:xfrm>
          <a:prstGeom prst="roundRect">
            <a:avLst>
              <a:gd name="adj" fmla="val 6667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8048625" y="4638675"/>
            <a:ext cx="3533775" cy="1428750"/>
          </a:xfrm>
          <a:custGeom>
            <a:pathLst>
              <a:path w="371" h="150">
                <a:moveTo>
                  <a:pt x="361" y="0"/>
                </a:moveTo>
                <a:cubicBezTo>
                  <a:pt x="366" y="0"/>
                  <a:pt x="370" y="3"/>
                  <a:pt x="371" y="8"/>
                </a:cubicBezTo>
                <a:cubicBezTo>
                  <a:pt x="370" y="5"/>
                  <a:pt x="367" y="3"/>
                  <a:pt x="36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220075" y="4791075"/>
            <a:ext cx="3190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7F4EC"/>
                </a:solidFill>
                <a:latin typeface="Microsoft YaHei"/>
                <a:ea typeface="Microsoft YaHei"/>
              </a:rPr>
              <a:t>架构与新特性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8220075" y="5038725"/>
            <a:ext cx="3190875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CONFIG_DATA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拍重组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16bit→24bit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（每步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寄存器）；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LINK_CONFIG_CTRL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新架构承载寄存器通路；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SCREN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口径对齐服务器。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11 / 19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87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3 · 图谱与核对&lt;/Text&gt;&#10;        &lt;Text style={{ fontSize: 34, fontWeight: 'bold', color: '#0F2438', lineHeight: 1.3, marginTop: 4 }}&gt;六张寄存器全景图与三方交叉验证&lt;/Text&gt;&#10;      &lt;/Box&gt;&#10;      &lt;Text style={{ fontSize: 14, color: 'rgba(15,36,56,0.5)', fontFamily: '&quot;Consolas&quot;, &quot;JetBrains Mono&quot;, monospace', marginTop: 22 }}&gt;12 / 19&lt;/Text&gt;&#10;    &lt;/Box&gt;&#10;&#10;    &lt;Box style={{ height: 510, flexDirection: 'row', gap: 28, marginTop: 14 }}&gt;&#10;&#10;      &lt;Box style={{ width: 511, background: '#0F2438', borderRadius: 12, padding: 30, flexDirection: 'column', justifyContent: 'space-between' }}&gt;&#10;&#10;        &lt;Box style={{ flexDirection: 'row', alignItems: 'flex-end', gap: 18 }}&gt;&#10;          &lt;Text style={{ fontSize: 120, fontWeight: 'bold', color: '#D99B2B', fontFamily: '&quot;Consolas&quot;, &quot;JetBrains Mono&quot;, monospace', lineHeight: 1.0 }}&gt;6&lt;/Text&gt;&#10;          &lt;Box style={{ flexDirection: 'column', paddingBottom: 10 }}&gt;&#10;            &lt;Text style={{ fontSize: 15, color: 'rgba(247,244,236,0.62)' }}&gt;张寄存器全景图&lt;/Text&gt;&#10;            &lt;Text style={{ fontSize: 15, color: 'rgba(247,244,236,0.62)' }}&gt;全部为手写 SVG&lt;/Text&gt;&#10;          &lt;/Box&gt;&#10;        &lt;/Box&gt;&#10;&#10;        &lt;Box style={{ flexDirection: 'column', gap: 16 }}&gt;&#10;          &lt;Box style={{ flexDirection: 'row', gap: 14, alignItems: 'flex-start' }}&gt;&#10;            &lt;Box style={{ width: 4, height: 34, background: '#D99B2B', marginTop: 2 }} /&gt;&#10;            &lt;Box style={{ flex: 1 }}&gt;&#10;              &lt;Text style={{ fontSize: 16, fontWeight: 'bold', color: '#F7F4EC' }}&gt;双模式默认字节映射&lt;/Text&gt;&#10;              &lt;Text style={{ fontSize: 13, color: 'rgba(247,244,236,0.62)', marginTop: 4 }}&gt;chip_sel = 0 / 1 两套完整地址空间对照&lt;/Text&gt;&#10;            &lt;/Box&gt;&#10;          &lt;/Box&gt;&#10;          &lt;Box style={{ flexDirection: 'row', gap: 14, alignItems: 'flex-start' }}&gt;&#10;            &lt;Box style={{ width: 4, height: 34, background: '#D99B2B', marginTop: 2 }} /&gt;&#10;            &lt;Box style={{ flex: 1 }}&gt;&#10;              &lt;Text style={{ fontSize: 16, fontWeight: 'bold', color: '#F7F4EC' }}&gt;checksum / LSI / 复位域&lt;/Text&gt;&#10;              &lt;Text style={{ fontSize: 13, color: 'rgba(247,244,236,0.62)', marginTop: 4 }}&gt;校验和地址覆盖范围、保护范围、复位域分类三张图&lt;/Text&gt;&#10;            &lt;/Box&gt;&#10;          &lt;/Box&gt;&#10;          &lt;Box style={{ flexDirection: 'row', gap: 14, alignItems: 'flex-start' }}&gt;&#10;            &lt;Box style={{ width: 4, height: 34, background: '#D99B2B', marginTop: 2 }} /&gt;&#10;            &lt;Box style={{ flex: 1 }}&gt;&#10;              &lt;Text style={{ fontSize: 16, fontWeight: 'bold', color: '#F7F4EC' }}&gt;0721v1 拍重组对照&lt;/Text&gt;&#10;              &lt;Text style={{ fontSize: 13, color: 'rgba(247,244,236,0.62)', marginTop: 4 }}&gt;2 拍 → 3 拍重组的字节级映射图解&lt;/Text&gt;&#10;            &lt;/Box&gt;&#10;          &lt;/Box&gt;&#10;        &lt;/Box&gt;&#10;&#10;        &lt;Box style={{ background: 'rgba(217,155,43,0.14)', borderRadius: 10, padding: '16px 20px', borderLeft: '3px solid #D99B2B' }}&gt;&#10;          &lt;Text style={{ fontSize: 14, color: '#F7F4EC', lineHeight: 1.6 }}&gt;&#10;            图谱不是插图——它是把 RTL、寄存器 Excel、地址映射三条线&lt;Text style={{ fontSize: 14, fontWeight: 'bold', color: '#D99B2B' }}&gt;拉到同一张纸上对账&lt;/Text&gt;的工具。&#10;          &lt;/Text&gt;&#10;        &lt;/Box&gt;&#10;&#10;      &lt;/Box&gt;&#10;&#10;      &lt;Box style={{ flex: 1, background: '#0F2438', borderRadius: 12, padding: 16, flexDirection: 'column', justifyContent: 'space-between' }}&gt;&#10;        &lt;Box style={{ flexDirection: 'row', justifyContent: 'space-between', alignItems: 'center', height: 24 }}&gt;&#10;          &lt;Text style={{ fontSize: 13, color: '#D99B2B', letterSpacing: 1 }}&gt;寄存器图解 Sheet · chip_sel = 0 默认字节映射&lt;/Text&gt;&#10;          &lt;Text style={{ fontSize: 12, color: 'rgba(247,244,236,0.45)', fontFamily: '&quot;Consolas&quot;, &quot;JetBrains Mono&quot;, monospace' }}&gt;diagrams.html&lt;/Text&gt;&#10;        &lt;/Box&gt;&#10;        &lt;Image src='assets/shot_lc_diagrams.png' style={{ width: '100%', height: 400, objectFit: 'contain', borderRadius: 6, border: '1px solid rgba(217,155,43,0.35)', marginTop: 10 }} /&gt;&#10;        &lt;Box style={{ flexDirection: 'row', justifyContent: 'space-between', alignItems: 'center', marginTop: 12 }}&gt;&#10;          &lt;Text style={{ fontSize: 13, color: 'rgba(247,244,236,0.65)' }}&gt;绿色 = 控制字段 · 黄色 = 电源相关 · 蓝紫 = 模拟相关&lt;/Text&gt;&#10;          &lt;Text style={{ fontSize: 13, color: '#D99B2B', fontFamily: '&quot;Consolas&quot;, &quot;JetBrains Mono&quot;, monospace' }}&gt;0827v1&lt;/Text&gt;&#10;        &lt;/Box&gt;&#10;      &lt;/Box&gt;&#10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12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85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03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图谱与核对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48577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六张寄存器全景图与三方交叉验证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12 / 19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1181100"/>
            <a:ext cx="4867275" cy="485775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95350" y="1466850"/>
            <a:ext cx="6286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D99B2B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695450" y="240030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张寄存器全景图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695450" y="2571750"/>
            <a:ext cx="1047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全部为手写</a:t>
            </a:r>
            <a:r>
              <a:rPr lang="en-US" sz="112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SVG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95350" y="3181350"/>
            <a:ext cx="38100" cy="3238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66800" y="3162300"/>
            <a:ext cx="412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双模式默认字节映射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66800" y="3390900"/>
            <a:ext cx="412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chip_sel = 0 / 1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两套完整地址空间对照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95350" y="3714750"/>
            <a:ext cx="38100" cy="3238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66800" y="3695700"/>
            <a:ext cx="412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7F4EC"/>
                </a:solidFill>
                <a:latin typeface="Microsoft YaHei"/>
                <a:ea typeface="Microsoft YaHei"/>
              </a:rPr>
              <a:t>checksum / LSI / </a:t>
            </a: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复位域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66800" y="3924300"/>
            <a:ext cx="412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校验和地址覆盖范围、保护范围、复位域分类三张图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95350" y="4248150"/>
            <a:ext cx="38100" cy="3238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66800" y="4229100"/>
            <a:ext cx="4124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7F4EC"/>
                </a:solidFill>
                <a:latin typeface="Microsoft YaHei"/>
                <a:ea typeface="Microsoft YaHei"/>
              </a:rPr>
              <a:t>0721v1 </a:t>
            </a:r>
            <a:r>
              <a:rPr lang="zh-CN" sz="1200" b="1">
                <a:solidFill>
                  <a:srgbClr val="F7F4EC"/>
                </a:solidFill>
                <a:latin typeface="Microsoft YaHei"/>
                <a:ea typeface="Microsoft YaHei"/>
              </a:rPr>
              <a:t>拍重组对照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66800" y="4457700"/>
            <a:ext cx="412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2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拍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→ 3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拍重组的字节级映射图解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923925" y="4933950"/>
            <a:ext cx="4295775" cy="819150"/>
          </a:xfrm>
          <a:prstGeom prst="roundRect">
            <a:avLst>
              <a:gd name="adj" fmla="val 11628"/>
            </a:avLst>
          </a:prstGeom>
          <a:solidFill>
            <a:srgbClr val="D99B2B">
              <a:alpha val="14000"/>
            </a:srgbClr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923925" y="4933950"/>
            <a:ext cx="4295775" cy="819150"/>
          </a:xfrm>
          <a:custGeom>
            <a:pathLst>
              <a:path w="451" h="86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9"/>
                </a:lnTo>
                <a:cubicBezTo>
                  <a:pt x="3" y="82"/>
                  <a:pt x="5" y="85"/>
                  <a:pt x="8" y="86"/>
                </a:cubicBezTo>
                <a:cubicBezTo>
                  <a:pt x="3" y="85"/>
                  <a:pt x="0" y="81"/>
                  <a:pt x="0" y="7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114425" y="5086350"/>
            <a:ext cx="3886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图谱不是插图——它是把</a:t>
            </a:r>
            <a:r>
              <a:rPr lang="en-US" sz="1050">
                <a:solidFill>
                  <a:srgbClr val="F7F4EC"/>
                </a:solidFill>
                <a:latin typeface="Microsoft YaHei"/>
                <a:ea typeface="Microsoft YaHei"/>
              </a:rPr>
              <a:t> RTL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、寄存器</a:t>
            </a:r>
            <a:r>
              <a:rPr lang="en-US" sz="1050">
                <a:solidFill>
                  <a:srgbClr val="F7F4EC"/>
                </a:solidFill>
                <a:latin typeface="Microsoft YaHei"/>
                <a:ea typeface="Microsoft YaHei"/>
              </a:rPr>
              <a:t> Excel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、地址映射三条线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拉到同一张纸上对账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的工具。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743575" y="1181100"/>
            <a:ext cx="5838825" cy="485775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895975" y="1371600"/>
            <a:ext cx="2895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寄存器图解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Sheet · chip_sel = 0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默认字节映射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610850" y="1381125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diagrams.html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5895975" y="1733550"/>
            <a:ext cx="5534025" cy="38100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2" name=""/>
          <p:cNvPicPr>
            <a:picLocks noChangeAspect="1"/>
          </p:cNvPicPr>
          <p:nvPr/>
        </p:nvPicPr>
        <p:blipFill>
          <a:blip r:embed="rId1"/>
          <a:srcRect l="1622" t="0" r="1622" b="0"/>
          <a:stretch>
            <a:fillRect/>
          </a:stretch>
        </p:blipFill>
        <p:spPr>
          <a:xfrm rot="0" flipH="0" flipV="0">
            <a:off x="5895975" y="1733550"/>
            <a:ext cx="5534025" cy="3810000"/>
          </a:xfrm>
          <a:prstGeom prst="roundRect">
            <a:avLst>
              <a:gd name="adj" fmla="val 1500"/>
            </a:avLst>
          </a:prstGeom>
          <a:ln/>
        </p:spPr>
      </p:pic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895975" y="5734050"/>
            <a:ext cx="2933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绿色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控制字段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黄色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电源相关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蓝紫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=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模拟相关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20425" y="5734050"/>
            <a:ext cx="409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9B2B"/>
                </a:solidFill>
                <a:latin typeface="Consolas"/>
                <a:ea typeface="Consolas"/>
              </a:rPr>
              <a:t>0827v1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12 / 19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8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relative', zIndex: 1, height: 640, flexDirection: 'column' }}&gt;&#10;&#10;    &lt;Box style={{ height: 288, borderRadius: 12, border: '1px solid rgba(217,155,43,0.35)', overflow: 'hidden', padding: 0 }}&gt;&#10;      &lt;Image src='assets/banner_syn.png' style={{ width: '100%', height: 288, objectFit: 'cover' }} /&gt;&#10;    &lt;/Box&gt;&#10;&#10;    &lt;Box style={{ height: 322, flexDirection: 'row', marginTop: 30, gap: 44 }}&gt;&#10;&#10;      &lt;Box style={{ width: 220, flexDirection: 'column' }}&gt;&#10;        &lt;Text style={{ fontSize: 13, color: '#D99B2B', letterSpacing: 3 }}&gt;CHAPTER 04&lt;/Text&gt;&#10;        &lt;Text style={{ fontSize: 13, color: 'rgba(247,244,236,0.45)', letterSpacing: 1, marginTop: 8 }}&gt;主题三&lt;/Text&gt;&#10;      &lt;/Box&gt;&#10;&#10;      &lt;Box style={{ flex: 1, flexDirection: 'column', justifyContent: 'space-between' }}&gt;&#10;        &lt;Box style={{ flexDirection: 'column' }}&gt;&#10;          &lt;Text style={{ fontSize: 68, fontWeight: 'bold', color: '#F7F4EC', lineHeight: 1.15 }}&gt;Synthesis &amp;amp; Integration Flow 指南&lt;/Text&gt;&#10;          &lt;Box style={{ width: 88, height: 3, background: '#D99B2B', marginTop: 24, marginBottom: 20 }} /&gt;&#10;          &lt;Text style={{ fontSize: 19, color: 'rgba(247,244,236,0.72)', lineHeight: 1.6 }}&gt;&#10;            把散落在综合流程里的环境配置、脚本、LEC、PT 签核与功耗分析，收成一本随手能查的手册。&#10;          &lt;/Text&gt;&#10;        &lt;/Box&gt;&#10;&#10;        &lt;Box style={{ flexDirection: 'row', gap: 26 }}&gt;&#10;          &lt;Box style={{ flex: 1, flexDirection: 'row', alignItems: 'baseline', gap: 10 }}&gt;&#10;            &lt;Text style={{ fontSize: 32, fontWeight: 'bold', color: '#D99B2B', fontFamily: '&quot;Consolas&quot;, &quot;JetBrains Mono&quot;, monospace', lineHeight: 1.0 }}&gt;12&lt;/Text&gt;&#10;            &lt;Text style={{ fontSize: 14, color: 'rgba(247,244,236,0.62)' }}&gt;章节页面&lt;/Text&gt;&#10;          &lt;/Box&gt;&#10;          &lt;Box style={{ flex: 1, flexDirection: 'row', alignItems: 'baseline', gap: 10 }}&gt;&#10;            &lt;Text style={{ fontSize: 32, fontWeight: 'bold', color: '#D99B2B', fontFamily: '&quot;Consolas&quot;, &quot;JetBrains Mono&quot;, monospace', lineHeight: 1.0 }}&gt;39&lt;/Text&gt;&#10;            &lt;Text style={{ fontSize: 14, color: 'rgba(247,244,236,0.62)' }}&gt;条脚本字典&lt;/Text&gt;&#10;          &lt;/Box&gt;&#10;          &lt;Box style={{ flex: 1, flexDirection: 'row', alignItems: 'baseline', gap: 10 }}&gt;&#10;            &lt;Text style={{ fontSize: 32, fontWeight: 'bold', color: '#D99B2B', fontFamily: '&quot;Consolas&quot;, &quot;JetBrains Mono&quot;, monospace', lineHeight: 1.0 }}&gt;52&lt;/Text&gt;&#10;            &lt;Text style={{ fontSize: 14, color: 'rgba(247,244,236,0.62)' }}&gt;张实拍截图&lt;/Text&gt;&#10;          &lt;/Box&gt;&#10;        &lt;/Box&gt;&#10;      &lt;/Box&gt;&#10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1" name=""/>
          <p:cNvSpPr/>
          <p:nvPr/>
        </p:nvSpPr>
        <p:spPr>
          <a:xfrm rot="0" flipH="0" flipV="0">
            <a:off x="609600" y="381000"/>
            <a:ext cx="10972800" cy="2743200"/>
          </a:xfrm>
          <a:prstGeom prst="roundRect">
            <a:avLst>
              <a:gd name="adj" fmla="val 4167"/>
            </a:avLst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0" flipH="0" flipV="0">
            <a:off x="609600" y="381000"/>
            <a:ext cx="10972800" cy="2743200"/>
          </a:xfrm>
          <a:custGeom>
            <a:pathLst>
              <a:path w="1152" h="288">
                <a:moveTo>
                  <a:pt x="1140" y="0"/>
                </a:moveTo>
                <a:cubicBezTo>
                  <a:pt x="1147" y="0"/>
                  <a:pt x="1152" y="5"/>
                  <a:pt x="1152" y="12"/>
                </a:cubicBezTo>
                <a:lnTo>
                  <a:pt x="1152" y="276"/>
                </a:lnTo>
                <a:cubicBezTo>
                  <a:pt x="1152" y="283"/>
                  <a:pt x="1147" y="288"/>
                  <a:pt x="1140" y="288"/>
                </a:cubicBezTo>
                <a:lnTo>
                  <a:pt x="12" y="288"/>
                </a:lnTo>
                <a:cubicBezTo>
                  <a:pt x="5" y="288"/>
                  <a:pt x="0" y="283"/>
                  <a:pt x="0" y="276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lnTo>
                  <a:pt x="1140" y="0"/>
                </a:lnTo>
                <a:close/>
              </a:path>
            </a:pathLst>
          </a:cu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CHAPTER 04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363855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主题三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124200" y="3409950"/>
            <a:ext cx="845820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4999"/>
              </a:lnSpc>
            </a:pPr>
            <a:r>
              <a:rPr lang="en-US" sz="5100" b="1">
                <a:solidFill>
                  <a:srgbClr val="F7F4EC"/>
                </a:solidFill>
                <a:latin typeface="Microsoft YaHei"/>
                <a:ea typeface="Microsoft YaHei"/>
              </a:rPr>
              <a:t>Synthesis &amp; Integration Flow </a:t>
            </a: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指南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124200" y="5429250"/>
            <a:ext cx="838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124200" y="5648325"/>
            <a:ext cx="84582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把散落在综合流程里的环境配置、脚本、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LEC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PT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签核与功耗分析，收成一本随手能查的手册。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24200" y="610552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D99B2B"/>
                </a:solidFill>
                <a:latin typeface="Consolas"/>
                <a:ea typeface="Consolas"/>
              </a:rPr>
              <a:t>12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562350" y="6105525"/>
            <a:ext cx="533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章节页面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29325" y="610552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D99B2B"/>
                </a:solidFill>
                <a:latin typeface="Consolas"/>
                <a:ea typeface="Consolas"/>
              </a:rPr>
              <a:t>39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67475" y="6105525"/>
            <a:ext cx="666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条脚本字典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924925" y="610552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D99B2B"/>
                </a:solidFill>
                <a:latin typeface="Consolas"/>
                <a:ea typeface="Consolas"/>
              </a:rPr>
              <a:t>52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363075" y="6105525"/>
            <a:ext cx="666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张实拍截图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34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4 · 内容体系&lt;/Text&gt;&#10;        &lt;Text style={{ fontSize: 34, fontWeight: 'bold', color: '#0F2438', lineHeight: 1.3, marginTop: 4 }}&gt;从零建立的 12 章节流程手册&lt;/Text&gt;&#10;      &lt;/Box&gt;&#10;      &lt;Text style={{ fontSize: 14, color: 'rgba(15,36,56,0.5)', fontFamily: '&quot;Consolas&quot;, &quot;JetBrains Mono&quot;, monospace', marginTop: 22 }}&gt;14 / 19&lt;/Text&gt;&#10;    &lt;/Box&gt;&#10;&#10;    &lt;Box style={{ height: 510, flexDirection: 'row', gap: 28, marginTop: 14 }}&gt;&#10;&#10;      &lt;Box style={{ width: 652, background: '#0F2438', borderRadius: 12, padding: 16, flexDirection: 'column', justifyContent: 'space-between' }}&gt;&#10;        &lt;Box style={{ flexDirection: 'row', justifyContent: 'space-between', alignItems: 'center', height: 24 }}&gt;&#10;          &lt;Text style={{ fontSize: 13, color: '#D99B2B', letterSpacing: 1 }}&gt;脚本字典 · 39 条脚本条目对照表&lt;/Text&gt;&#10;          &lt;Text style={{ fontSize: 12, color: 'rgba(247,244,236,0.45)', fontFamily: '&quot;Consolas&quot;, &quot;JetBrains Mono&quot;, monospace' }}&gt;script-dict.html&lt;/Text&gt;&#10;        &lt;/Box&gt;&#10;        &lt;Image src='assets/shot_syn_script.png' style={{ width: '100%', height: 396, objectFit: 'contain', borderRadius: 6, border: '1px solid rgba(217,155,43,0.35)', marginTop: 10 }} /&gt;&#10;        &lt;Box style={{ flexDirection: 'row', justifyContent: 'space-between', alignItems: 'center', marginTop: 12 }}&gt;&#10;          &lt;Text style={{ fontSize: 13, color: 'rgba(247,244,236,0.65)' }}&gt;每条脚本给出用途、关键变量与踩过的坑，支持锚点直达&lt;/Text&gt;&#10;          &lt;Text style={{ fontSize: 13, color: '#D99B2B', fontFamily: '&quot;Consolas&quot;, &quot;JetBrains Mono&quot;, monospace' }}&gt;39 / 39&lt;/Text&gt;&#10;        &lt;/Box&gt;&#10;      &lt;/Box&gt;&#10;&#10;      &lt;Box style={{ flex: 1, flexDirection: 'column', justifyContent: 'space-between' }}&gt;&#10;&#10;        &lt;Box style={{ flexDirection: 'row', gap: 16, alignItems: 'flex-start' }}&gt;&#10;          &lt;Text style={{ fontSize: 20, fontWeight: 'bold', color: '#D99B2B', fontFamily: '&quot;Consolas&quot;, &quot;JetBrains Mono&quot;, monospace', width: 30 }}&gt;01&lt;/Text&gt;&#10;          &lt;Box style={{ flex: 1 }}&gt;&#10;            &lt;Text style={{ fontSize: 16, fontWeight: 'bold', color: '#0F2438' }}&gt;按 flow 顺序组织 12 个章节&lt;/Text&gt;&#10;            &lt;Text style={{ fontSize: 13, color: 'rgba(15,36,56,0.65)', lineHeight: 1.55, marginTop: 4 }}&gt;环境 → RTL 检查 → 综合 → LEC → APR 签核 → POSTPT → 功耗 → PowerPro → TO 签核 → FAQ → 学习路径 → 脚本字典。&lt;/Text&gt;&#10;          &lt;/Box&gt;&#10;        &lt;/Box&gt;&#10;&#10;        &lt;Box style={{ flexDirection: 'row', gap: 16, alignItems: 'flex-start' }}&gt;&#10;          &lt;Text style={{ fontSize: 20, fontWeight: 'bold', color: '#D99B2B', fontFamily: '&quot;Consolas&quot;, &quot;JetBrains Mono&quot;, monospace', width: 30 }}&gt;02&lt;/Text&gt;&#10;          &lt;Box style={{ flex: 1 }}&gt;&#10;            &lt;Text style={{ fontSize: 16, fontWeight: 'bold', color: '#0F2438' }}&gt;把培训材料沉淀进手册&lt;/Text&gt;&#10;            &lt;Text style={{ fontSize: 13, color: 'rgba(15,36,56,0.65)', lineHeight: 1.55, marginTop: 4 }}&gt;融合后端流程培训内容，新增 PT 介绍详细页与学习路径页（含实操练习与截图反馈清单）。&lt;/Text&gt;&#10;          &lt;/Box&gt;&#10;        &lt;/Box&gt;&#10;&#10;        &lt;Box style={{ flexDirection: 'row', gap: 16, alignItems: 'flex-start' }}&gt;&#10;          &lt;Text style={{ fontSize: 20, fontWeight: 'bold', color: '#D99B2B', fontFamily: '&quot;Consolas&quot;, &quot;JetBrains Mono&quot;, monospace', width: 30 }}&gt;03&lt;/Text&gt;&#10;          &lt;Box style={{ flex: 1 }}&gt;&#10;            &lt;Text style={{ fontSize: 16, fontWeight: 'bold', color: '#0F2438' }}&gt;从文档升级为可检索工具&lt;/Text&gt;&#10;            &lt;Text style={{ fontSize: 13, color: 'rgba(15,36,56,0.65)', lineHeight: 1.55, marginTop: 4 }}&gt;加入全文搜索、悬停术语表、流程图 SVG 与标签页导航，回归到&quot;随手能查&quot;的形态。&lt;/Text&gt;&#10;          &lt;/Box&gt;&#10;        &lt;/Box&gt;&#10;&#10;        &lt;Box style={{ background: '#0F2438', borderRadius: 10, padding: 14, flexDirection: 'column' }}&gt;&#10;          &lt;Box style={{ flexDirection: 'row', justifyContent: 'space-between', alignItems: 'center' }}&gt;&#10;            &lt;Text style={{ fontSize: 12, color: '#D99B2B', letterSpacing: 1 }}&gt;PowerPro 功耗评估 · 实测数据入库&lt;/Text&gt;&#10;            &lt;Text style={{ fontSize: 11, color: 'rgba(247,244,236,0.4)', fontFamily: '&quot;Consolas&quot;, &quot;JetBrains Mono&quot;, monospace' }}&gt;2026-08-20&lt;/Text&gt;&#10;          &lt;/Box&gt;&#10;          &lt;Image src='assets/shot_syn_powerpro.png' style={{ width: '100%', height: 168, objectFit: 'cover', borderRadius: 5, marginTop: 8 }} /&gt;&#10;        &lt;/Box&gt;&#10;&#10;      &lt;/Box&gt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14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4162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04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内容体系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4162425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从零建立的</a:t>
            </a:r>
            <a:r>
              <a:rPr lang="en-US" sz="2550" b="1">
                <a:solidFill>
                  <a:srgbClr val="0F2438"/>
                </a:solidFill>
                <a:latin typeface="Microsoft YaHei"/>
                <a:ea typeface="Microsoft YaHei"/>
              </a:rPr>
              <a:t> 12 </a:t>
            </a: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章节流程手册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14 / 19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09600" y="1181100"/>
            <a:ext cx="6210300" cy="485775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脚本字典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39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条脚本条目对照表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5657850" y="1381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script-dict.html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762000" y="1752600"/>
            <a:ext cx="5905500" cy="37719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 r:embed="rId1"/>
          <a:srcRect l="1073" t="0" r="1073" b="0"/>
          <a:stretch>
            <a:fillRect/>
          </a:stretch>
        </p:blipFill>
        <p:spPr>
          <a:xfrm rot="0" flipH="0" flipV="0">
            <a:off x="762000" y="1752600"/>
            <a:ext cx="5905500" cy="3771900"/>
          </a:xfrm>
          <a:prstGeom prst="roundRect">
            <a:avLst>
              <a:gd name="adj" fmla="val 1515"/>
            </a:avLst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2000" y="5734050"/>
            <a:ext cx="3095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每条脚本给出用途、关键变量与踩过的坑，支持锚点直达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181725" y="5734050"/>
            <a:ext cx="485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9B2B"/>
                </a:solidFill>
                <a:latin typeface="Consolas"/>
                <a:ea typeface="Consolas"/>
              </a:rPr>
              <a:t>39 / 39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086600" y="118110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524750" y="1181100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按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flow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顺序组织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12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个章节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524750" y="1409700"/>
            <a:ext cx="40576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环境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RTL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检查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综合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LEC → APR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签核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POSTPT →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功耗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PowerPro → TO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签核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FAQ →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学习路径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→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脚本字典。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086600" y="2105025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把培训材料沉淀进手册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524750" y="2333625"/>
            <a:ext cx="40576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融合后端流程培训内容，新增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PT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介绍详细页与学习路径页（含实操练习与截图反馈清单）。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086600" y="3028950"/>
            <a:ext cx="285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9B2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524750" y="3028950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从文档升级为可检索工具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40576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加入全文搜索、悬停术语表、流程图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SVG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与标签页导航，回归到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随手能查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的形态。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086600" y="3952875"/>
            <a:ext cx="4495800" cy="2085975"/>
          </a:xfrm>
          <a:prstGeom prst="roundRect">
            <a:avLst>
              <a:gd name="adj" fmla="val 4566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219950" y="408622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D99B2B"/>
                </a:solidFill>
                <a:latin typeface="Microsoft YaHei"/>
                <a:ea typeface="Microsoft YaHei"/>
              </a:rPr>
              <a:t>PowerPro </a:t>
            </a:r>
            <a:r>
              <a:rPr lang="zh-CN" sz="900" spc="75">
                <a:solidFill>
                  <a:srgbClr val="D99B2B"/>
                </a:solidFill>
                <a:latin typeface="Microsoft YaHei"/>
                <a:ea typeface="Microsoft YaHei"/>
              </a:rPr>
              <a:t>功耗评估</a:t>
            </a:r>
            <a:r>
              <a:rPr lang="en-US" sz="900" spc="75">
                <a:solidFill>
                  <a:srgbClr val="D99B2B"/>
                </a:solidFill>
                <a:latin typeface="Microsoft YaHei"/>
                <a:ea typeface="Microsoft YaHei"/>
              </a:rPr>
              <a:t> · </a:t>
            </a:r>
            <a:r>
              <a:rPr lang="zh-CN" sz="900" spc="75">
                <a:solidFill>
                  <a:srgbClr val="D99B2B"/>
                </a:solidFill>
                <a:latin typeface="Microsoft YaHei"/>
                <a:ea typeface="Microsoft YaHei"/>
              </a:rPr>
              <a:t>实测数据入库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868025" y="4095750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F7F4EC">
                    <a:alpha val="40000"/>
                  </a:srgbClr>
                </a:solidFill>
                <a:latin typeface="Consolas"/>
                <a:ea typeface="Consolas"/>
              </a:rPr>
              <a:t>2026-08-20</a:t>
            </a:r>
            <a:endParaRPr/>
          </a:p>
        </p:txBody>
      </p:sp>
      <p:pic>
        <p:nvPicPr>
          <p:cNvPr id="158" name=""/>
          <p:cNvPicPr>
            <a:picLocks noChangeAspect="1"/>
          </p:cNvPicPr>
          <p:nvPr/>
        </p:nvPicPr>
        <p:blipFill>
          <a:blip r:embed="rId2"/>
          <a:srcRect l="0" t="19729" r="0" b="19729"/>
          <a:stretch>
            <a:fillRect/>
          </a:stretch>
        </p:blipFill>
        <p:spPr>
          <a:xfrm rot="0" flipH="0" flipV="0">
            <a:off x="7219950" y="4305300"/>
            <a:ext cx="4229100" cy="1600200"/>
          </a:xfrm>
          <a:prstGeom prst="roundRect">
            <a:avLst>
              <a:gd name="adj" fmla="val 2976"/>
            </a:avLst>
          </a:prstGeom>
          <a:ln/>
        </p:spPr>
      </p:pic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14 / 19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62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relative', zIndex: 1, height: 640, flexDirection: 'column' }}&gt;&#10;&#10;    &lt;Box style={{ height: 216, flexDirection: 'row', alignItems: 'flex-start', gap: 40 }}&gt;&#10;      &lt;Box style={{ width: 220, flexDirection: 'column' }}&gt;&#10;        &lt;Text style={{ fontSize: 13, color: '#D99B2B', letterSpacing: 3 }}&gt;CHAPTER 05&lt;/Text&gt;&#10;        &lt;Text style={{ fontSize: 13, color: 'rgba(247,244,236,0.45)', letterSpacing: 1, marginTop: 8 }}&gt;主题四与主题五&lt;/Text&gt;&#10;      &lt;/Box&gt;&#10;      &lt;Box style={{ flex: 1, flexDirection: 'column' }}&gt;&#10;        &lt;Text style={{ fontSize: 68, fontWeight: 'bold', color: '#F7F4EC', lineHeight: 1.15 }}&gt;进阶设计实验室&lt;/Text&gt;&#10;        &lt;Text style={{ fontSize: 19, color: 'rgba(247,244,236,0.72)', lineHeight: 1.6, marginTop: 22 }}&gt;&#10;          从&quot;把流程跑完&quot;到&quot;改造流程&quot;——一条是引入新工具的评估，一条是重做时序约束的方法论。&#10;        &lt;/Text&gt;&#10;      &lt;/Box&gt;&#10;    &lt;/Box&gt;&#10;&#10;    &lt;Box style={{ height: 424, flexDirection: 'row', alignItems: 'center', gap: 48 }}&gt;&#10;&#10;      &lt;Box style={{ width: 336, flexDirection: 'column', alignItems: 'flex-start' }}&gt;&#10;        &lt;Text style={{ fontSize: 300, fontWeight: 'bold', color: '#D99B2B', fontFamily: '&quot;Consolas&quot;, &quot;JetBrains Mono&quot;, monospace', lineHeight: 1.0 }}&gt;2&lt;/Text&gt;&#10;        &lt;Text style={{ fontSize: 16, color: 'rgba(247,244,236,0.72)', marginTop: 10 }}&gt;条进阶主线 · 均由单人独立完成&lt;/Text&gt;&#10;      &lt;/Box&gt;&#10;&#10;      &lt;Box style={{ flex: 1, flexDirection: 'column', gap: 22 }}&gt;&#10;&#10;        &lt;Box style={{ background: 'rgba(247,244,236,0.08)', borderRadius: 12, padding: '22px 26px', borderLeft: '4px solid #D99B2B', flexDirection: 'column' }}&gt;&#10;          &lt;Box style={{ flexDirection: 'row', justifyContent: 'space-between', alignItems: 'baseline' }}&gt;&#10;            &lt;Text style={{ fontSize: 20, fontWeight: 'bold', color: '#F7F4EC' }}&gt;主题四 · Fusion Compiler 引入评估实录&lt;/Text&gt;&#10;            &lt;Text style={{ fontSize: 15, color: '#D99B2B', fontFamily: '&quot;Consolas&quot;, &quot;JetBrains Mono&quot;, monospace' }}&gt;2 天&lt;/Text&gt;&#10;          &lt;/Box&gt;&#10;          &lt;Text style={{ fontSize: 15, color: 'rgba(247,244,236,0.7)', lineHeight: 1.6, marginTop: 10 }}&gt;&#10;            在现有 DC 综合流程上平行引入 FC：环境踩坑、license 排查、9 脚本平行架构，最终 LEC 验收通过且判词优于 DC 基线。&#10;          &lt;/Text&gt;&#10;          &lt;Box style={{ flexDirection: 'row', gap: 26, marginTop: 14 }}&gt;&#10;            &lt;Text style={{ fontSize: 13, color: 'rgba(247,244,236,0.55)' }}&gt;5 个 Sheet 页面&lt;/Text&gt;&#10;            &lt;Text style={{ fontSize: 13, color: 'rgba(247,244,236,0.55)' }}&gt;18 个部署文件&lt;/Text&gt;&#10;            &lt;Text style={{ fontSize: 13, color: 'rgba(247,244,236,0.55)' }}&gt;D1 ~ D19 踩坑全记录&lt;/Text&gt;&#10;          &lt;/Box&gt;&#10;        &lt;/Box&gt;&#10;&#10;        &lt;Box style={{ background: 'rgba(247,244,236,0.08)', borderRadius: 12, padding: '22px 26px', borderLeft: '4px solid #D99B2B', flexDirection: 'column' }}&gt;&#10;          &lt;Box style={{ flexDirection: 'row', justifyContent: 'space-between', alignItems: 'baseline' }}&gt;&#10;            &lt;Text style={{ fontSize: 20, fontWeight: 'bold', color: '#F7F4EC' }}&gt;主题五 · 模式相关时序约束的拆与合&lt;/Text&gt;&#10;            &lt;Text style={{ fontSize: 15, color: '#D99B2B', fontFamily: '&quot;Consolas&quot;, &quot;JetBrains Mono&quot;, monospace' }}&gt;3 条路线&lt;/Text&gt;&#10;          &lt;/Box&gt;&#10;          &lt;Text style={{ fontSize: 15, color: 'rgba(247,244,236,0.7)', lineHeight: 1.6, marginTop: 10 }}&gt;&#10;            从 HV2M23 的 1P/2P 双工作模式出发，讲清为什么要拆约束、拆的代价是什么，以及三条把人力成本降下来的进阶路线。&#10;          &lt;/Text&gt;&#10;          &lt;Box style={{ flexDirection: 'row', gap: 26, marginTop: 14 }}&gt;&#10;            &lt;Text style={{ fontSize: 13, color: 'rgba(247,244,236,0.55)' }}&gt;7 个章节页面&lt;/Text&gt;&#10;            &lt;Text style={{ fontSize: 13, color: 'rgba(247,244,236,0.55)' }}&gt;10 个 signoff corner&lt;/Text&gt;&#10;            &lt;Text style={{ fontSize: 13, color: 'rgba(247,244,236,0.55)' }}&gt;1.7G lane0 最高速率&lt;/Text&gt;&#10;          &lt;/Box&gt;&#10;        &lt;/Box&gt;&#10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CHAPTER 05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209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主题四与主题五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086100" y="381000"/>
            <a:ext cx="8496300" cy="8953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进阶设计实验室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086100" y="1485900"/>
            <a:ext cx="849630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把流程跑完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到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改造流程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"——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一条是引入新工具的评估，一条是重做时序约束的方法论。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57162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D99B2B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6124575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条进阶主线</a:t>
            </a:r>
            <a:r>
              <a:rPr lang="en-US" sz="12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均由单人独立完成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305300" y="2771775"/>
            <a:ext cx="7315200" cy="1581150"/>
          </a:xfrm>
          <a:prstGeom prst="roundRect">
            <a:avLst>
              <a:gd name="adj" fmla="val 7229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4305300" y="2771775"/>
            <a:ext cx="7315200" cy="1581150"/>
          </a:xfrm>
          <a:custGeom>
            <a:pathLst>
              <a:path w="768" h="16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8"/>
                </a:lnTo>
                <a:cubicBezTo>
                  <a:pt x="4" y="162"/>
                  <a:pt x="7" y="165"/>
                  <a:pt x="10" y="166"/>
                </a:cubicBezTo>
                <a:cubicBezTo>
                  <a:pt x="4" y="165"/>
                  <a:pt x="0" y="160"/>
                  <a:pt x="0" y="15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552950" y="2981325"/>
            <a:ext cx="3533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主题四</a:t>
            </a:r>
            <a:r>
              <a:rPr lang="en-US" sz="1500" b="1">
                <a:solidFill>
                  <a:srgbClr val="F7F4EC"/>
                </a:solidFill>
                <a:latin typeface="Microsoft YaHei"/>
                <a:ea typeface="Microsoft YaHei"/>
              </a:rPr>
              <a:t> · Fusion Compiler </a:t>
            </a: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引入评估实录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11029950" y="2981325"/>
            <a:ext cx="304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99B2B"/>
                </a:solidFill>
                <a:latin typeface="Consolas"/>
                <a:ea typeface="Consolas"/>
              </a:rPr>
              <a:t>2 </a:t>
            </a:r>
            <a:r>
              <a:rPr lang="zh-CN" sz="1125">
                <a:solidFill>
                  <a:srgbClr val="D99B2B"/>
                </a:solidFill>
                <a:latin typeface="Consolas"/>
                <a:ea typeface="Consolas"/>
              </a:rPr>
              <a:t>天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552950" y="3305175"/>
            <a:ext cx="6781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在现有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DC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综合流程上平行引入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FC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：环境踩坑、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license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排查、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9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脚本平行架构，最终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LEC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验收通过且判词优于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DC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基线。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52950" y="3990975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5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 Sheet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页面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695950" y="3990975"/>
            <a:ext cx="809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18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个部署文件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753225" y="3990975"/>
            <a:ext cx="1228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D1 ~ D19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踩坑全记录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4305300" y="4562475"/>
            <a:ext cx="7315200" cy="1581150"/>
          </a:xfrm>
          <a:prstGeom prst="roundRect">
            <a:avLst>
              <a:gd name="adj" fmla="val 7229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4305300" y="4562475"/>
            <a:ext cx="7315200" cy="1581150"/>
          </a:xfrm>
          <a:custGeom>
            <a:pathLst>
              <a:path w="768" h="16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58"/>
                </a:lnTo>
                <a:cubicBezTo>
                  <a:pt x="4" y="162"/>
                  <a:pt x="7" y="165"/>
                  <a:pt x="10" y="166"/>
                </a:cubicBezTo>
                <a:cubicBezTo>
                  <a:pt x="4" y="165"/>
                  <a:pt x="0" y="160"/>
                  <a:pt x="0" y="15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52950" y="4772025"/>
            <a:ext cx="305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主题五</a:t>
            </a:r>
            <a:r>
              <a:rPr lang="en-US" sz="1500" b="1">
                <a:solidFill>
                  <a:srgbClr val="F7F4EC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7F4EC"/>
                </a:solidFill>
                <a:latin typeface="Microsoft YaHei"/>
                <a:ea typeface="Microsoft YaHei"/>
              </a:rPr>
              <a:t>模式相关时序约束的拆与合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744200" y="4772025"/>
            <a:ext cx="590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D99B2B"/>
                </a:solidFill>
                <a:latin typeface="Consolas"/>
                <a:ea typeface="Consolas"/>
              </a:rPr>
              <a:t>3 </a:t>
            </a:r>
            <a:r>
              <a:rPr lang="zh-CN" sz="1125">
                <a:solidFill>
                  <a:srgbClr val="D99B2B"/>
                </a:solidFill>
                <a:latin typeface="Consolas"/>
                <a:ea typeface="Consolas"/>
              </a:rPr>
              <a:t>条路线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52950" y="5095875"/>
            <a:ext cx="6781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HV2M23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的</a:t>
            </a:r>
            <a:r>
              <a:rPr lang="en-US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1P/2P </a:t>
            </a:r>
            <a:r>
              <a:rPr lang="zh-CN" sz="112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双工作模式出发，讲清为什么要拆约束、拆的代价是什么，以及三条把人力成本降下来的进阶路线。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52950" y="5781675"/>
            <a:ext cx="733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7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个章节页面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534025" y="5781675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10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个</a:t>
            </a: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 signoff corner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953250" y="5781675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1.7G lane0 </a:t>
            </a:r>
            <a:r>
              <a:rPr lang="zh-CN" sz="975">
                <a:solidFill>
                  <a:srgbClr val="F7F4EC">
                    <a:alpha val="55000"/>
                  </a:srgbClr>
                </a:solidFill>
                <a:latin typeface="Microsoft YaHei"/>
                <a:ea typeface="Microsoft YaHei"/>
              </a:rPr>
              <a:t>最高速率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87" name="" descr="&lt;Slide style={{ width: 1280, height: 720, position: 'relative', background: '#0F2438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7)' strokeWidth={1} /&gt;&#10;    ))}&#10;    {Array.from({ length: 18 }).map((_, i) =&gt; (&#10;      &lt;line key={'h' + i} x1={0} y1={i * 40} x2={1280} y2={i * 40} stroke='rgba(217,155,43,0.07)' strokeWidth={1} /&gt;&#10;    ))}&#10;  &lt;/svg&gt;&#10;&#10;  &lt;Box style={{ position: 'relative', zIndex: 1,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5 · 主题四&lt;/Text&gt;&#10;        &lt;Text style={{ fontSize: 34, fontWeight: 'bold', color: '#F7F4EC', lineHeight: 1.3, marginTop: 4 }}&gt;Fusion Compiler：两天从踩坑到 LEC 通过&lt;/Text&gt;&#10;      &lt;/Box&gt;&#10;      &lt;Text style={{ fontSize: 14, color: 'rgba(247,244,236,0.5)', fontFamily: '&quot;Consolas&quot;, &quot;JetBrains Mono&quot;, monospace', marginTop: 22 }}&gt;16 / 19&lt;/Text&gt;&#10;    &lt;/Box&gt;&#10;&#10;    &lt;Box style={{ height: 336, background: '#1D3F5C', borderRadius: 12, padding: 16, flexDirection: 'column', marginTop: 14 }}&gt;&#10;      &lt;Box style={{ flexDirection: 'row', justifyContent: 'space-between', alignItems: 'center', height: 22 }}&gt;&#10;        &lt;Text style={{ fontSize: 13, color: '#D99B2B', letterSpacing: 1 }}&gt;FC 引入评估实录 · 范围决策与内网环境踩坑&lt;/Text&gt;&#10;        &lt;Text style={{ fontSize: 12, color: 'rgba(247,244,236,0.45)', fontFamily: '&quot;Consolas&quot;, &quot;JetBrains Mono&quot;, monospace' }}&gt;V-2023.12-SP5&lt;/Text&gt;&#10;      &lt;/Box&gt;&#10;      &lt;Image src='assets/banner_fc_eval.png' style={{ width: '100%', height: 274, objectFit: 'cover', borderRadius: 6, border: '1px solid rgba(217,155,43,0.35)', marginTop: 8 }} /&gt;&#10;    &lt;/Box&gt;&#10;&#10;    &lt;Box style={{ height: 160, flexDirection: 'row', gap: 24, marginTop: 14 }}&gt;&#10;&#10;      &lt;Box style={{ width: 288, background: 'rgba(217,155,43,0.14)', borderRadius: 10, borderLeft: '3px solid #D99B2B', padding: '0 22px', flexDirection: 'column', justifyContent: 'center' }}&gt;&#10;        &lt;Text style={{ fontSize: 76, fontWeight: 'bold', color: '#D99B2B', fontFamily: '&quot;Consolas&quot;, &quot;JetBrains Mono&quot;, monospace', lineHeight: 1.0 }}&gt;1896&lt;/Text&gt;&#10;        &lt;Text style={{ fontSize: 13, color: 'rgba(247,244,236,0.72)', marginTop: 10 }}&gt;FC 侧 LEC 等价点数（DC 基线 379）&lt;/Text&gt;&#10;      &lt;/Box&gt;&#10;&#10;      &lt;Box style={{ flex: 1, background: 'rgba(247,244,236,0.08)', borderRadius: 10, padding: '16px 22px', flexDirection: 'column', justifyContent: 'center' }}&gt;&#10;        &lt;Text style={{ fontSize: 15, color: '#F7F4EC', lineHeight: 1.55 }}&gt;&#10;          LEC 判词：FC 网表 &lt;Text style={{ fontSize: 15, fontWeight: 'bold', color: '#D99B2B' }}&gt;EQ 1896 / NON-EQ 282&lt;/Text&gt;，优于 DC 基线的 EQ 379 / NON-EQ 999 + 803 未比对。&#10;        &lt;/Text&gt;&#10;        &lt;Text style={{ fontSize: 13, color: 'rgba(247,244,236,0.62)', marginTop: 10 }}&gt;&#10;          残余 282 点已定位为预存 RTL 歧义（非 FC 引入），移交设计组；门级对门级 LEC 终验待跑。&#10;        &lt;/Text&gt;&#10;      &lt;/Box&gt;&#10;&#10;      &lt;Box style={{ width: 300, background: 'rgba(247,244,236,0.08)', borderRadius: 10, padding: '16px 22px', flexDirection: 'column', justifyContent: 'space-between' }}&gt;&#10;        &lt;Box style={{ flexDirection: 'row', justifyContent: 'space-between', alignItems: 'baseline' }}&gt;&#10;          &lt;Text style={{ fontSize: 13, color: 'rgba(247,244,236,0.7)' }}&gt;首跑排障关卡&lt;/Text&gt;&#10;          &lt;Text style={{ fontSize: 22, fontWeight: 'bold', color: '#F7F4EC', fontFamily: '&quot;Consolas&quot;, &quot;JetBrains Mono&quot;, monospace' }}&gt;5&lt;/Text&gt;&#10;        &lt;/Box&gt;&#10;        &lt;Box style={{ flexDirection: 'row', justifyContent: 'space-between', alignItems: 'baseline' }}&gt;&#10;          &lt;Text style={{ fontSize: 13, color: 'rgba(247,244,236,0.7)' }}&gt;一键部署文件&lt;/Text&gt;&#10;          &lt;Text style={{ fontSize: 22, fontWeight: 'bold', color: '#F7F4EC', fontFamily: '&quot;Consolas&quot;, &quot;JetBrains Mono&quot;, monospace' }}&gt;18&lt;/Text&gt;&#10;        &lt;/Box&gt;&#10;        &lt;Box style={{ flexDirection: 'row', justifyContent: 'space-between', alignItems: 'baseline' }}&gt;&#10;          &lt;Text style={{ fontSize: 13, color: 'rgba(247,244,236,0.7)' }}&gt;踩坑条目 D1~D19&lt;/Text&gt;&#10;          &lt;Text style={{ fontSize: 22, fontWeight: 'bold', color: '#D99B2B', fontFamily: '&quot;Consolas&quot;, &quot;JetBrains Mono&quot;, monospace' }}&gt;19&lt;/Text&gt;&#10;        &lt;/Box&gt;&#10;      &lt;/Box&gt;&#10;&#10;    &lt;/Box&gt;&#10;&#10;    &lt;Box style={{ flex: 1, flexDirection: 'row', justifyContent: 'space-between', alignItems: 'flex-end' }}&gt;&#10;      &lt;Text style={{ fontSize: 14, color: 'rgba(247,244,23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247,244,236,0.45)', fontFamily: '&quot;Consolas&quot;, &quot;JetBrains Mono&quot;, monospace' }}&gt;16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2438"/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343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05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主题四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63436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>Fusion Compiler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：两天从踩坑到</a:t>
            </a:r>
            <a:r>
              <a:rPr lang="en-US" sz="2550" b="1">
                <a:solidFill>
                  <a:srgbClr val="F7F4EC"/>
                </a:solidFill>
                <a:latin typeface="Microsoft YaHei"/>
                <a:ea typeface="Microsoft YaHei"/>
              </a:rPr>
              <a:t> LEC </a:t>
            </a:r>
            <a:r>
              <a:rPr lang="zh-CN" sz="2550" b="1">
                <a:solidFill>
                  <a:srgbClr val="F7F4EC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0000"/>
                  </a:srgbClr>
                </a:solidFill>
                <a:latin typeface="Consolas"/>
                <a:ea typeface="Consolas"/>
              </a:rPr>
              <a:t>16 / 19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1181100"/>
            <a:ext cx="10972800" cy="3200400"/>
          </a:xfrm>
          <a:prstGeom prst="roundRect">
            <a:avLst>
              <a:gd name="adj" fmla="val 3571"/>
            </a:avLst>
          </a:prstGeom>
          <a:solidFill>
            <a:srgbClr val="1D3F5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762000" y="1362075"/>
            <a:ext cx="2619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FC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引入评估实录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·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范围决策与内网环境踩坑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610850" y="13716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V-2023.12-SP5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762000" y="1619250"/>
            <a:ext cx="10668000" cy="260985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7" name=""/>
          <p:cNvPicPr>
            <a:picLocks noChangeAspect="1"/>
          </p:cNvPicPr>
          <p:nvPr/>
        </p:nvPicPr>
        <p:blipFill>
          <a:blip r:embed="rId2"/>
          <a:srcRect l="0" t="1071" r="0" b="1071"/>
          <a:stretch>
            <a:fillRect/>
          </a:stretch>
        </p:blipFill>
        <p:spPr>
          <a:xfrm rot="0" flipH="0" flipV="0">
            <a:off x="762000" y="1619250"/>
            <a:ext cx="10668000" cy="2609850"/>
          </a:xfrm>
          <a:prstGeom prst="roundRect">
            <a:avLst>
              <a:gd name="adj" fmla="val 2190"/>
            </a:avLst>
          </a:prstGeom>
          <a:ln/>
        </p:spPr>
      </p:pic>
      <p:sp>
        <p:nvSpPr>
          <p:cNvPr id="198" name=""/>
          <p:cNvSpPr/>
          <p:nvPr/>
        </p:nvSpPr>
        <p:spPr>
          <a:xfrm rot="0" flipH="0" flipV="0">
            <a:off x="638175" y="4514850"/>
            <a:ext cx="2714625" cy="1524000"/>
          </a:xfrm>
          <a:prstGeom prst="roundRect">
            <a:avLst>
              <a:gd name="adj" fmla="val 6250"/>
            </a:avLst>
          </a:prstGeom>
          <a:solidFill>
            <a:srgbClr val="D99B2B">
              <a:alpha val="14000"/>
            </a:srgbClr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638175" y="4514850"/>
            <a:ext cx="2714625" cy="1524000"/>
          </a:xfrm>
          <a:custGeom>
            <a:pathLst>
              <a:path w="285" h="160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153"/>
                </a:lnTo>
                <a:cubicBezTo>
                  <a:pt x="3" y="156"/>
                  <a:pt x="5" y="159"/>
                  <a:pt x="8" y="160"/>
                </a:cubicBezTo>
                <a:cubicBezTo>
                  <a:pt x="3" y="159"/>
                  <a:pt x="0" y="155"/>
                  <a:pt x="0" y="150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47725" y="4714875"/>
            <a:ext cx="2295525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D99B2B"/>
                </a:solidFill>
                <a:latin typeface="Consolas"/>
                <a:ea typeface="Consolas"/>
              </a:rPr>
              <a:t>1896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47725" y="5686425"/>
            <a:ext cx="2295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FC </a:t>
            </a:r>
            <a:r>
              <a:rPr lang="zh-CN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侧</a:t>
            </a:r>
            <a:r>
              <a:rPr lang="en-US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LEC </a:t>
            </a:r>
            <a:r>
              <a:rPr lang="zh-CN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等价点数（</a:t>
            </a:r>
            <a:r>
              <a:rPr lang="en-US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DC </a:t>
            </a:r>
            <a:r>
              <a:rPr lang="zh-CN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基线</a:t>
            </a:r>
            <a:r>
              <a:rPr lang="en-US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379</a:t>
            </a:r>
            <a:r>
              <a:rPr lang="zh-CN" sz="97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3581400" y="4514850"/>
            <a:ext cx="4914900" cy="1524000"/>
          </a:xfrm>
          <a:prstGeom prst="roundRect">
            <a:avLst>
              <a:gd name="adj" fmla="val 6250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790950" y="4810125"/>
            <a:ext cx="4495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LEC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判词：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FC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网表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EQ 1896 / NON-EQ 282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，优于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DC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基线的</a:t>
            </a: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 EQ 379 / NON-EQ 999 + 803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未比对。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790950" y="5438775"/>
            <a:ext cx="44958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残余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282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点已定位为预存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RTL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歧义（非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FC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引入），移交设计组；门级对门级</a:t>
            </a:r>
            <a:r>
              <a:rPr lang="en-US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 LEC </a:t>
            </a: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终验待跑。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724900" y="4514850"/>
            <a:ext cx="2857500" cy="1524000"/>
          </a:xfrm>
          <a:prstGeom prst="roundRect">
            <a:avLst>
              <a:gd name="adj" fmla="val 6250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934450" y="4667250"/>
            <a:ext cx="742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首跑排障关卡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249025" y="4667250"/>
            <a:ext cx="123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7F4EC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934450" y="5153025"/>
            <a:ext cx="742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一键部署文件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1134725" y="515302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7F4EC"/>
                </a:solidFill>
                <a:latin typeface="Consolas"/>
                <a:ea typeface="Consolas"/>
              </a:rPr>
              <a:t>18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934450" y="5629275"/>
            <a:ext cx="1038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踩坑条目</a:t>
            </a:r>
            <a:r>
              <a:rPr lang="en-US" sz="975">
                <a:solidFill>
                  <a:srgbClr val="F7F4EC">
                    <a:alpha val="70000"/>
                  </a:srgbClr>
                </a:solidFill>
                <a:latin typeface="Microsoft YaHei"/>
                <a:ea typeface="Microsoft YaHei"/>
              </a:rPr>
              <a:t> D1~D19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1134725" y="5629275"/>
            <a:ext cx="238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9B2B"/>
                </a:solidFill>
                <a:latin typeface="Consolas"/>
                <a:ea typeface="Consolas"/>
              </a:rPr>
              <a:t>19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F7F4EC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16 / 19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15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HAPTER 05 · 主题五&lt;/Text&gt;&#10;        &lt;Text style={{ fontSize: 34, fontWeight: 'bold', color: '#0F2438', lineHeight: 1.3, marginTop: 4 }}&gt;时序约束的拆与合：1P / 2P 双模式&lt;/Text&gt;&#10;      &lt;/Box&gt;&#10;      &lt;Text style={{ fontSize: 14, color: 'rgba(15,36,56,0.5)', fontFamily: '&quot;Consolas&quot;, &quot;JetBrains Mono&quot;, monospace', marginTop: 22 }}&gt;17 / 19&lt;/Text&gt;&#10;    &lt;/Box&gt;&#10;&#10;    &lt;Box style={{ height: 510, flexDirection: 'row', gap: 28, marginTop: 14 }}&gt;&#10;&#10;      &lt;Box style={{ width: 652, background: '#0F2438', borderRadius: 12, padding: 16, flexDirection: 'column', justifyContent: 'space-between' }}&gt;&#10;        &lt;Box style={{ flexDirection: 'row', justifyContent: 'space-between', alignItems: 'center', height: 24 }}&gt;&#10;          &lt;Text style={{ fontSize: 13, color: '#D99B2B', letterSpacing: 1 }}&gt;方案 C · MMMC 正解：一个网表 + 多套 mode 约束&lt;/Text&gt;&#10;          &lt;Text style={{ fontSize: 12, color: 'rgba(247,244,236,0.45)', fontFamily: '&quot;Consolas&quot;, &quot;JetBrains Mono&quot;, monospace' }}&gt;mmmc.html&lt;/Text&gt;&#10;        &lt;/Box&gt;&#10;        &lt;Image src='assets/shot_adv_mmmc.png' style={{ width: '100%', height: 396, objectFit: 'contain', borderRadius: 6, border: '1px solid rgba(217,155,43,0.35)', marginTop: 10 }} /&gt;&#10;        &lt;Box style={{ flexDirection: 'row', justifyContent: 'space-between', alignItems: 'center', marginTop: 12 }}&gt;&#10;          &lt;Text style={{ fontSize: 13, color: 'rgba(247,244,236,0.65)' }}&gt;HV2M23 · 1P 单 lane 1.7G / 2P 双 lane 1.6G 由 DPSEL_I 选择&lt;/Text&gt;&#10;          &lt;Text style={{ fontSize: 13, color: '#D99B2B', fontFamily: '&quot;Consolas&quot;, &quot;JetBrains Mono&quot;, monospace' }}&gt;10 corner&lt;/Text&gt;&#10;        &lt;/Box&gt;&#10;      &lt;/Box&gt;&#10;&#10;      &lt;Box style={{ flex: 1, flexDirection: 'column', justifyContent: 'space-between' }}&gt;&#10;&#10;        &lt;Box style={{ flexDirection: 'column', gap: 24 }}&gt;&#10;&#10;          &lt;Box style={{ flexDirection: 'row', gap: 14, alignItems: 'flex-start' }}&gt;&#10;            &lt;Box style={{ width: 4, height: 32, background: 'rgba(15,36,56,0.35)', marginTop: 2 }} /&gt;&#10;            &lt;Box style={{ flex: 1 }}&gt;&#10;              &lt;Text style={{ fontSize: 16, fontWeight: 'bold', color: '#0F2438' }}&gt;现状 · 拆成两套约束&lt;/Text&gt;&#10;              &lt;Text style={{ fontSize: 13, color: 'rgba(15,36,56,0.65)', lineHeight: 1.55, marginTop: 4 }}&gt;双份维护、10 corner × 2 模式 = 20 次 PT、false path 过宽的漏检风险、APR 只认一个网表。&lt;/Text&gt;&#10;            &lt;/Box&gt;&#10;          &lt;/Box&gt;&#10;&#10;          &lt;Box style={{ flexDirection: 'row', gap: 14, alignItems: 'flex-start' }}&gt;&#10;            &lt;Box style={{ width: 4, height: 32, background: 'rgba(15,36,56,0.35)', marginTop: 2 }} /&gt;&#10;            &lt;Box style={{ flex: 1 }}&gt;&#10;              &lt;Text style={{ fontSize: 16, fontWeight: 'bold', color: '#0F2438' }}&gt;方案 A · 合并时钟&lt;/Text&gt;&#10;              &lt;Text style={{ fontSize: 13, color: 'rgba(15,36,56,0.65)', lineHeight: 1.55, marginTop: 4 }}&gt;一套约束同时覆盖两种模式——可行，但解不了「同一路径 1P false、2P 真查」的假路径。&lt;/Text&gt;&#10;            &lt;/Box&gt;&#10;          &lt;/Box&gt;&#10;&#10;          &lt;Box style={{ flexDirection: 'row', gap: 14, alignItems: 'flex-start' }}&gt;&#10;            &lt;Box style={{ width: 4, height: 32, background: 'rgba(15,36,56,0.35)', marginTop: 2 }} /&gt;&#10;            &lt;Box style={{ flex: 1 }}&gt;&#10;              &lt;Text style={{ fontSize: 16, fontWeight: 'bold', color: '#0F2438' }}&gt;方案 B · set_max_delay&lt;/Text&gt;&#10;              &lt;Text style={{ fontSize: 13, color: 'rgba(15,36,56,0.65)', lineHeight: 1.55, marginTop: 4 }}&gt;流程受限时的可用近似解，但必须精确取 2P 周期值并限定对象，否则放松过度即漏检。&lt;/Text&gt;&#10;            &lt;/Box&gt;&#10;          &lt;/Box&gt;&#10;&#10;          &lt;Box style={{ flexDirection: 'row', gap: 14, alignItems: 'flex-start' }}&gt;&#10;            &lt;Box style={{ width: 4, height: 32, background: '#D99B2B', marginTop: 2 }} /&gt;&#10;            &lt;Box style={{ flex: 1 }}&gt;&#10;              &lt;Text style={{ fontSize: 16, fontWeight: 'bold', color: '#0F2438' }}&gt;方案 C · MMMC 标准正解&lt;/Text&gt;&#10;              &lt;Text style={{ fontSize: 13, color: 'rgba(15,36,56,0.65)', lineHeight: 1.55, marginTop: 4 }}&gt;一个网表配多套 mode 约束，APR 与 PT 原生支持——不需要近似，也没有漏检。&lt;/Text&gt;&#10;            &lt;/Box&gt;&#10;          &lt;/Box&gt;&#10;&#10;        &lt;/Box&gt;&#10;&#10;        &lt;Box style={{ background: '#0F2438', borderRadius: 10, padding: '16px 20px', borderLeft: '3px solid #D99B2B' }}&gt;&#10;          &lt;Text style={{ fontSize: 14, color: '#F7F4EC', lineHeight: 1.6 }}&gt;&#10;            不只回答「怎么做」，还讲清&lt;Text style={{ fontSize: 14, fontWeight: 'bold', color: '#D99B2B' }}&gt;每条路要付什么代价&lt;/Text&gt;——这才是方法论，而不是命令清单。&#10;          &lt;/Text&gt;&#10;        &lt;/Box&gt;&#10;&#10;      &lt;/Box&gt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17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5162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CHAPTER 05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主题五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51625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时序约束的拆与合：</a:t>
            </a:r>
            <a:r>
              <a:rPr lang="en-US" sz="2550" b="1">
                <a:solidFill>
                  <a:srgbClr val="0F2438"/>
                </a:solidFill>
                <a:latin typeface="Microsoft YaHei"/>
                <a:ea typeface="Microsoft YaHei"/>
              </a:rPr>
              <a:t>1P / 2P </a:t>
            </a: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双模式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17 / 19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609600" y="1181100"/>
            <a:ext cx="6210300" cy="4857750"/>
          </a:xfrm>
          <a:prstGeom prst="roundRect">
            <a:avLst>
              <a:gd name="adj" fmla="val 2353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62000" y="1371600"/>
            <a:ext cx="32099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方案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C · MMMC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正解：一个网表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+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多套</a:t>
            </a:r>
            <a:r>
              <a:rPr lang="en-US" sz="975" spc="75">
                <a:solidFill>
                  <a:srgbClr val="D99B2B"/>
                </a:solidFill>
                <a:latin typeface="Microsoft YaHei"/>
                <a:ea typeface="Microsoft YaHei"/>
              </a:rPr>
              <a:t> mode </a:t>
            </a:r>
            <a:r>
              <a:rPr lang="zh-CN" sz="975" spc="75">
                <a:solidFill>
                  <a:srgbClr val="D99B2B"/>
                </a:solidFill>
                <a:latin typeface="Microsoft YaHei"/>
                <a:ea typeface="Microsoft YaHei"/>
              </a:rPr>
              <a:t>约束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0" y="13811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F7F4EC">
                    <a:alpha val="45000"/>
                  </a:srgbClr>
                </a:solidFill>
                <a:latin typeface="Consolas"/>
                <a:ea typeface="Consolas"/>
              </a:rPr>
              <a:t>mmmc.html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62000" y="1752600"/>
            <a:ext cx="5905500" cy="3771900"/>
          </a:xfrm>
          <a:prstGeom prst="rect">
            <a:avLst/>
          </a:prstGeom>
          <a:ln w="12700">
            <a:solidFill>
              <a:srgbClr val="D99B2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4" name=""/>
          <p:cNvPicPr>
            <a:picLocks noChangeAspect="1"/>
          </p:cNvPicPr>
          <p:nvPr/>
        </p:nvPicPr>
        <p:blipFill>
          <a:blip r:embed="rId1"/>
          <a:srcRect l="1073" t="0" r="1073" b="0"/>
          <a:stretch>
            <a:fillRect/>
          </a:stretch>
        </p:blipFill>
        <p:spPr>
          <a:xfrm rot="0" flipH="0" flipV="0">
            <a:off x="762000" y="1752600"/>
            <a:ext cx="5905500" cy="3771900"/>
          </a:xfrm>
          <a:prstGeom prst="roundRect">
            <a:avLst>
              <a:gd name="adj" fmla="val 1515"/>
            </a:avLst>
          </a:prstGeom>
          <a:ln/>
        </p:spPr>
      </p:pic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2000" y="5734050"/>
            <a:ext cx="3495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HV2M23 · 1P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单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lane 1.7G / 2P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双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lane 1.6G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由</a:t>
            </a:r>
            <a:r>
              <a:rPr lang="en-US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 DPSEL_I </a:t>
            </a:r>
            <a:r>
              <a:rPr lang="zh-CN" sz="975">
                <a:solidFill>
                  <a:srgbClr val="F7F4EC">
                    <a:alpha val="65000"/>
                  </a:srgbClr>
                </a:solidFill>
                <a:latin typeface="Microsoft YaHei"/>
                <a:ea typeface="Microsoft YaHei"/>
              </a:rPr>
              <a:t>选择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48375" y="57340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D99B2B"/>
                </a:solidFill>
                <a:latin typeface="Consolas"/>
                <a:ea typeface="Consolas"/>
              </a:rPr>
              <a:t>10 corner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7086600" y="1200150"/>
            <a:ext cx="38100" cy="304800"/>
          </a:xfrm>
          <a:prstGeom prst="rect">
            <a:avLst/>
          </a:prstGeom>
          <a:solidFill>
            <a:srgbClr val="0F2438">
              <a:alpha val="35000"/>
            </a:srgbClr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258050" y="1181100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现状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·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拆成两套约束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258050" y="1409700"/>
            <a:ext cx="4324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双份维护、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10 corner × 2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模式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= 20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次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PT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false path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过宽的漏检风险、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APR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只认一个网表。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086600" y="2124075"/>
            <a:ext cx="38100" cy="304800"/>
          </a:xfrm>
          <a:prstGeom prst="rect">
            <a:avLst/>
          </a:prstGeom>
          <a:solidFill>
            <a:srgbClr val="0F2438">
              <a:alpha val="35000"/>
            </a:srgbClr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258050" y="2105025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方案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A ·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合并时钟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7258050" y="2333625"/>
            <a:ext cx="4324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一套约束同时覆盖两种模式——可行，但解不了「同一路径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1P false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、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2P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真查」的假路径。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086600" y="3048000"/>
            <a:ext cx="38100" cy="304800"/>
          </a:xfrm>
          <a:prstGeom prst="rect">
            <a:avLst/>
          </a:prstGeom>
          <a:solidFill>
            <a:srgbClr val="0F2438">
              <a:alpha val="35000"/>
            </a:srgbClr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7258050" y="3028950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方案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B · set_max_delay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258050" y="3257550"/>
            <a:ext cx="4324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流程受限时的可用近似解，但必须精确取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2P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周期值并限定对象，否则放松过度即漏检。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7086600" y="3971925"/>
            <a:ext cx="38100" cy="30480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258050" y="3952875"/>
            <a:ext cx="4324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方案</a:t>
            </a: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 C · MMMC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标准正解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258050" y="4181475"/>
            <a:ext cx="43243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一个网表配多套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mode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约束，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APR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与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PT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原生支持——不需要近似，也没有漏检。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7115175" y="5219700"/>
            <a:ext cx="4495800" cy="819150"/>
          </a:xfrm>
          <a:prstGeom prst="roundRect">
            <a:avLst>
              <a:gd name="adj" fmla="val 11628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7115175" y="5219700"/>
            <a:ext cx="4495800" cy="819150"/>
          </a:xfrm>
          <a:custGeom>
            <a:pathLst>
              <a:path w="472" h="86">
                <a:moveTo>
                  <a:pt x="9" y="0"/>
                </a:moveTo>
                <a:cubicBezTo>
                  <a:pt x="6" y="0"/>
                  <a:pt x="3" y="3"/>
                  <a:pt x="3" y="7"/>
                </a:cubicBezTo>
                <a:lnTo>
                  <a:pt x="3" y="79"/>
                </a:lnTo>
                <a:cubicBezTo>
                  <a:pt x="3" y="82"/>
                  <a:pt x="5" y="85"/>
                  <a:pt x="8" y="86"/>
                </a:cubicBezTo>
                <a:cubicBezTo>
                  <a:pt x="3" y="85"/>
                  <a:pt x="0" y="81"/>
                  <a:pt x="0" y="76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D99B2B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305675" y="5372100"/>
            <a:ext cx="40862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不只回答「怎么做」，还讲清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每条路要付什么代价</a:t>
            </a:r>
            <a:r>
              <a:rPr lang="zh-CN" sz="1050">
                <a:solidFill>
                  <a:srgbClr val="F7F4EC"/>
                </a:solidFill>
                <a:latin typeface="Microsoft YaHei"/>
                <a:ea typeface="Microsoft YaHei"/>
              </a:rPr>
              <a:t>——这才是方法论，而不是命令清单。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17 / 19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245" name="" descr="&lt;Slide style={{ width: 1280, height: 720, background: '#F7F4EC', padding: '40px 64px', fontFamily: '&quot;Microsoft YaHei&quot;, &quot;PingFang SC&quot;, &quot;Noto Sans SC&quot;, sans-serif' }}&gt;&#10;&#10;  &lt;Box style={{ height: 640, flexDirection: 'column' }}&gt;&#10;&#10;    &lt;Box style={{ height: 70, flexDirection: 'row', justifyContent: 'space-between', alignItems: 'flex-start' }}&gt;&#10;      &lt;Box style={{ flexDirection: 'column' }}&gt;&#10;        &lt;Text style={{ fontSize: 13, color: '#D99B2B', letterSpacing: 2 }}&gt;CONTRIBUTION · 成果盘点&lt;/Text&gt;&#10;        &lt;Text style={{ fontSize: 34, fontWeight: 'bold', color: '#0F2438', lineHeight: 1.3, marginTop: 4 }}&gt;我的贡献盘点：五个维度&lt;/Text&gt;&#10;      &lt;/Box&gt;&#10;      &lt;Text style={{ fontSize: 14, color: 'rgba(15,36,56,0.5)', fontFamily: '&quot;Consolas&quot;, &quot;JetBrains Mono&quot;, monospace', marginTop: 22 }}&gt;18 / 19&lt;/Text&gt;&#10;    &lt;/Box&gt;&#10;&#10;    &lt;Box style={{ height: 510, flexDirection: 'row', gap: 28, marginTop: 14 }}&gt;&#10;&#10;      &lt;Box style={{ width: 378, background: '#0F2438', borderRadius: 12, padding: 28, flexDirection: 'column', justifyContent: 'space-between' }}&gt;&#10;        &lt;Box style={{ flexDirection: 'column' }}&gt;&#10;          &lt;Text style={{ fontSize: 13, color: '#D99B2B', letterSpacing: 2 }}&gt;不只是「参与了」&lt;/Text&gt;&#10;          &lt;Text style={{ fontSize: 120, fontWeight: 'bold', color: '#D99B2B', fontFamily: '&quot;Consolas&quot;, &quot;JetBrains Mono&quot;, monospace', lineHeight: 1.0, marginTop: 16 }}&gt;5&lt;/Text&gt;&#10;          &lt;Text style={{ fontSize: 18, fontWeight: 'bold', color: '#F7F4EC', marginTop: 6 }}&gt;个可指认的贡献维度&lt;/Text&gt;&#10;        &lt;/Box&gt;&#10;        &lt;Box style={{ flexDirection: 'column' }}&gt;&#10;          &lt;Box style={{ width: 56, height: 3, background: '#D99B2B', marginBottom: 18 }} /&gt;&#10;          &lt;Text style={{ fontSize: 15, color: 'rgba(247,244,236,0.72)', lineHeight: 1.65 }}&gt;&#10;            每一个维度都能落到仓库里具体的文件、脚本、图谱或验收结论上——不靠形容词，靠产出物说话。&#10;          &lt;/Text&gt;&#10;        &lt;/Box&gt;&#10;      &lt;/Box&gt;&#10;&#10;      &lt;Box style={{ flex: 1, flexDirection: 'column', justifyContent: 'space-between' }}&gt;&#10;&#10;        &lt;Box style={{ flexDirection: 'column', gap: 13 }}&gt;&#10;&#10;          &lt;Box style={{ flexDirection: 'row', gap: 16, alignItems: 'flex-start', paddingBottom: 12, borderBottom: '1px solid rgba(15,36,56,0.14)' }}&gt;&#10;            &lt;Text style={{ fontSize: 18, fontWeight: 'bold', color: '#D99B2B', fontFamily: '&quot;Consolas&quot;, &quot;JetBrains Mono&quot;, monospace', width: 30 }}&gt;01&lt;/Text&gt;&#10;            &lt;Box style={{ flex: 1 }}&gt;&#10;              &lt;Text style={{ fontSize: 16, fontWeight: 'bold', color: '#0F2438' }}&gt;验证方法论建设&lt;/Text&gt;&#10;              &lt;Text style={{ fontSize: 13, color: 'rgba(15,36,56,0.65)', marginTop: 3 }}&gt;三级独立交叉验证体系 · 三条排障证据链脚本 · 换项目快速启动 SOP&lt;/Text&gt;&#10;            &lt;/Box&gt;&#10;          &lt;/Box&gt;&#10;&#10;          &lt;Box style={{ flexDirection: 'row', gap: 16, alignItems: 'flex-start', paddingBottom: 12, borderBottom: '1px solid rgba(15,36,56,0.14)' }}&gt;&#10;            &lt;Text style={{ fontSize: 18, fontWeight: 'bold', color: '#D99B2B', fontFamily: '&quot;Consolas&quot;, &quot;JetBrains Mono&quot;, monospace', width: 30 }}&gt;02&lt;/Text&gt;&#10;            &lt;Box style={{ flex: 1 }}&gt;&#10;              &lt;Text style={{ fontSize: 16, fontWeight: 'bold', color: '#0F2438' }}&gt;RTL 与寄存器架构&lt;/Text&gt;&#10;              &lt;Text style={{ fontSize: 13, color: 'rgba(15,36,56,0.65)', marginTop: 3 }}&gt;LC_CPUWR 五个月演进 · 10+ 版本归档 · 24bit 拍重组 · LINK_CONFIG_CTRL 新架构&lt;/Text&gt;&#10;            &lt;/Box&gt;&#10;          &lt;/Box&gt;&#10;&#10;          &lt;Box style={{ flexDirection: 'row', gap: 16, alignItems: 'flex-start', paddingBottom: 12, borderBottom: '1px solid rgba(15,36,56,0.14)' }}&gt;&#10;            &lt;Text style={{ fontSize: 18, fontWeight: 'bold', color: '#D99B2B', fontFamily: '&quot;Consolas&quot;, &quot;JetBrains Mono&quot;, monospace', width: 30 }}&gt;03&lt;/Text&gt;&#10;            &lt;Box style={{ flex: 1 }}&gt;&#10;              &lt;Text style={{ fontSize: 16, fontWeight: 'bold', color: '#0F2438' }}&gt;工程图谱与工具链&lt;/Text&gt;&#10;              &lt;Text style={{ fontSize: 13, color: 'rgba(15,36,56,0.65)', marginTop: 3 }}&gt;6 张寄存器全景图 + 12 张工程示意图 + 脚本化生成链路（地址映射 / 流程图 / 报告图）&lt;/Text&gt;&#10;            &lt;/Box&gt;&#10;          &lt;/Box&gt;&#10;&#10;          &lt;Box style={{ flexDirection: 'row', gap: 16, alignItems: 'flex-start', paddingBottom: 12, borderBottom: '1px solid rgba(15,36,56,0.14)' }}&gt;&#10;            &lt;Text style={{ fontSize: 18, fontWeight: 'bold', color: '#D99B2B', fontFamily: '&quot;Consolas&quot;, &quot;JetBrains Mono&quot;, monospace', width: 30 }}&gt;04&lt;/Text&gt;&#10;            &lt;Box style={{ flex: 1 }}&gt;&#10;              &lt;Text style={{ fontSize: 16, fontWeight: 'bold', color: '#0F2438' }}&gt;新工具引入评估&lt;/Text&gt;&#10;              &lt;Text style={{ fontSize: 13, color: 'rgba(15,36,56,0.65)', marginTop: 3 }}&gt;DC → FC 平行迁移 · 2 天走通 LEC 验收 · 18 文件可复用部署体系（一键安装）&lt;/Text&gt;&#10;            &lt;/Box&gt;&#10;          &lt;/Box&gt;&#10;&#10;          &lt;Box style={{ flexDirection: 'row', gap: 16, alignItems: 'flex-start' }}&gt;&#10;            &lt;Text style={{ fontSize: 18, fontWeight: 'bold', color: '#D99B2B', fontFamily: '&quot;Consolas&quot;, &quot;JetBrains Mono&quot;, monospace', width: 30 }}&gt;05&lt;/Text&gt;&#10;            &lt;Box style={{ flex: 1 }}&gt;&#10;              &lt;Text style={{ fontSize: 16, fontWeight: 'bold', color: '#0F2438' }}&gt;站点工程化与内容运营&lt;/Text&gt;&#10;              &lt;Text style={{ fontSize: 13, color: 'rgba(15,36,56,0.65)', marginTop: 3 }}&gt;5 大主题站点 · 统一蓝图视觉体系 · 全文搜索 / 术语表 / TOC / lightbox 交互&lt;/Text&gt;&#10;            &lt;/Box&gt;&#10;          &lt;/Box&gt;&#10;&#10;        &lt;/Box&gt;&#10;&#10;        &lt;Box style={{ flexDirection: 'row', gap: 16, height: 158 }}&gt;&#10;          &lt;Box style={{ flex: 1, flexDirection: 'column' }}&gt;&#10;            &lt;Text style={{ fontSize: 12, color: 'rgba(15,36,56,0.6)', marginBottom: 6 }}&gt;主题四 · Fusion Compiler 引入评估实录&lt;/Text&gt;&#10;            &lt;Image src='assets/shot_fc.png' style={{ width: '100%', height: 130, objectFit: 'cover', borderRadius: 6, border: '1px solid rgba(217,155,43,0.45)' }} /&gt;&#10;          &lt;/Box&gt;&#10;          &lt;Box style={{ flex: 1, flexDirection: 'column' }}&gt;&#10;            &lt;Text style={{ fontSize: 12, color: 'rgba(15,36,56,0.6)', marginBottom: 6 }}&gt;主题五 · 模式相关时序约束的拆与合&lt;/Text&gt;&#10;            &lt;Image src='assets/shot_adv.png' style={{ width: '100%', height: 130, objectFit: 'cover', borderRadius: 6, border: '1px solid rgba(217,155,43,0.45)' }} /&gt;&#10;          &lt;/Box&gt;&#10;        &lt;/Box&gt;&#10;&#10;      &lt;/Box&gt;&#10;    &lt;/Box&gt;&#10;&#10;    &lt;Box style={{ flex: 1, flexDirection: 'row', justifyContent: 'space-between', alignItems: 'flex-end' }}&gt;&#10;      &lt;Text style={{ fontSize: 14, color: 'rgba(15,36,56,0.45)' }}&gt;TEAM-SHARE-PUBLIC · 项目复盘&lt;/Text&gt;&#10;      &lt;Box style={{ flexDirection: 'row', alignItems: 'center', gap: 10 }}&gt;&#10;        &lt;Box style={{ width: 36, height: 2, background: '#D99B2B' }} /&gt;&#10;        &lt;Text style={{ fontSize: 14, color: 'rgba(15,36,56,0.45)', fontFamily: '&quot;Consolas&quot;, &quot;JetBrains Mono&quot;, monospace' }}&gt;18 / 19&lt;/Text&gt;&#10;      &lt;/Box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3562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D99B2B"/>
                </a:solidFill>
                <a:latin typeface="Microsoft YaHei"/>
                <a:ea typeface="Microsoft YaHei"/>
              </a:rPr>
              <a:t>CONTRIBUTION · </a:t>
            </a: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成果盘点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571500"/>
            <a:ext cx="356235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0F2438"/>
                </a:solidFill>
                <a:latin typeface="Microsoft YaHei"/>
                <a:ea typeface="Microsoft YaHei"/>
              </a:rPr>
              <a:t>我的贡献盘点：五个维度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068050" y="5905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50000"/>
                  </a:srgbClr>
                </a:solidFill>
                <a:latin typeface="Consolas"/>
                <a:ea typeface="Consolas"/>
              </a:rPr>
              <a:t>18 / 19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1181100"/>
            <a:ext cx="3600450" cy="4857750"/>
          </a:xfrm>
          <a:prstGeom prst="roundRect">
            <a:avLst>
              <a:gd name="adj" fmla="val 3175"/>
            </a:avLst>
          </a:prstGeom>
          <a:solidFill>
            <a:srgbClr val="0F2438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76300" y="1447800"/>
            <a:ext cx="3067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D99B2B"/>
                </a:solidFill>
                <a:latin typeface="Microsoft YaHei"/>
                <a:ea typeface="Microsoft YaHei"/>
              </a:rPr>
              <a:t>不只是「参与了」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76300" y="1752600"/>
            <a:ext cx="306705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solidFill>
                  <a:srgbClr val="D99B2B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3067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7F4EC"/>
                </a:solidFill>
                <a:latin typeface="Microsoft YaHei"/>
                <a:ea typeface="Microsoft YaHei"/>
              </a:rPr>
              <a:t>个可指认的贡献维度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876300" y="4714875"/>
            <a:ext cx="5334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76300" y="4914900"/>
            <a:ext cx="30670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每一个维度都能落到仓库里具体的文件、脚本、图谱或验收结论上——不靠形容词，靠产出物说话。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4476750" y="1181100"/>
            <a:ext cx="7105650" cy="504825"/>
          </a:xfrm>
          <a:custGeom>
            <a:pathLst>
              <a:path w="746" h="53">
                <a:moveTo>
                  <a:pt x="0" y="52"/>
                </a:moveTo>
                <a:lnTo>
                  <a:pt x="746" y="52"/>
                </a:lnTo>
                <a:lnTo>
                  <a:pt x="746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F2438">
              <a:alpha val="14000"/>
            </a:srgbClr>
          </a:solidFill>
          <a:ln/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476750" y="118110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914900" y="118110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验证方法论建设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914900" y="140017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三级独立交叉验证体系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三条排障证据链脚本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换项目快速启动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SOP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476750" y="1800225"/>
            <a:ext cx="7105650" cy="504825"/>
          </a:xfrm>
          <a:custGeom>
            <a:pathLst>
              <a:path w="746" h="53">
                <a:moveTo>
                  <a:pt x="0" y="52"/>
                </a:moveTo>
                <a:lnTo>
                  <a:pt x="746" y="52"/>
                </a:lnTo>
                <a:lnTo>
                  <a:pt x="746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F2438">
              <a:alpha val="14000"/>
            </a:srgbClr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476750" y="180022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9B2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914900" y="1800225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2438"/>
                </a:solidFill>
                <a:latin typeface="Microsoft YaHei"/>
                <a:ea typeface="Microsoft YaHei"/>
              </a:rPr>
              <a:t>RTL </a:t>
            </a: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与寄存器架构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914900" y="201930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LC_CPUWR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五个月演进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10+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版本归档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24bit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拍重组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LINK_CONFIG_CTRL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新架构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4476750" y="2419350"/>
            <a:ext cx="7105650" cy="504825"/>
          </a:xfrm>
          <a:custGeom>
            <a:pathLst>
              <a:path w="746" h="53">
                <a:moveTo>
                  <a:pt x="0" y="52"/>
                </a:moveTo>
                <a:lnTo>
                  <a:pt x="746" y="52"/>
                </a:lnTo>
                <a:lnTo>
                  <a:pt x="746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F2438">
              <a:alpha val="14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476750" y="241935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9B2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914900" y="241935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工程图谱与工具链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914900" y="26384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6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张寄存器全景图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+ 12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张工程示意图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脚本化生成链路（地址映射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流程图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报告图）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476750" y="3038475"/>
            <a:ext cx="7105650" cy="504825"/>
          </a:xfrm>
          <a:custGeom>
            <a:pathLst>
              <a:path w="746" h="53">
                <a:moveTo>
                  <a:pt x="0" y="52"/>
                </a:moveTo>
                <a:lnTo>
                  <a:pt x="746" y="52"/>
                </a:lnTo>
                <a:lnTo>
                  <a:pt x="746" y="53"/>
                </a:lnTo>
                <a:lnTo>
                  <a:pt x="0" y="53"/>
                </a:lnTo>
                <a:close/>
              </a:path>
            </a:pathLst>
          </a:custGeom>
          <a:solidFill>
            <a:srgbClr val="0F2438">
              <a:alpha val="14000"/>
            </a:srgbClr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476750" y="3038475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9B2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914900" y="3038475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新工具引入评估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914900" y="325755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DC → FC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平行迁移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2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天走通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LEC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验收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18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文件可复用部署体系（一键安装）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476750" y="3657600"/>
            <a:ext cx="285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9B2B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914900" y="3657600"/>
            <a:ext cx="666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2438"/>
                </a:solidFill>
                <a:latin typeface="Microsoft YaHei"/>
                <a:ea typeface="Microsoft YaHei"/>
              </a:rPr>
              <a:t>站点工程化与内容运营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914900" y="387667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5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大主题站点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统一蓝图视觉体系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全文搜索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术语表</a:t>
            </a:r>
            <a:r>
              <a:rPr lang="en-US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 / TOC / lightbox </a:t>
            </a:r>
            <a:r>
              <a:rPr lang="zh-CN" sz="975">
                <a:solidFill>
                  <a:srgbClr val="0F2438">
                    <a:alpha val="65000"/>
                  </a:srgbClr>
                </a:solidFill>
                <a:latin typeface="Microsoft YaHei"/>
                <a:ea typeface="Microsoft YaHei"/>
              </a:rPr>
              <a:t>交互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476750" y="4533900"/>
            <a:ext cx="3476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主题四</a:t>
            </a:r>
            <a:r>
              <a:rPr lang="en-US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Fusion Compiler </a:t>
            </a: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引入评估实录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4476750" y="4733925"/>
            <a:ext cx="3476625" cy="1238250"/>
          </a:xfrm>
          <a:prstGeom prst="rect">
            <a:avLst/>
          </a:prstGeom>
          <a:ln w="12700">
            <a:solidFill>
              <a:srgbClr val="D99B2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7" name=""/>
          <p:cNvPicPr>
            <a:picLocks noChangeAspect="1"/>
          </p:cNvPicPr>
          <p:nvPr/>
        </p:nvPicPr>
        <p:blipFill>
          <a:blip r:embed="rId1"/>
          <a:srcRect l="0" t="21506" r="0" b="21506"/>
          <a:stretch>
            <a:fillRect/>
          </a:stretch>
        </p:blipFill>
        <p:spPr>
          <a:xfrm rot="0" flipH="0" flipV="0">
            <a:off x="4476750" y="4733925"/>
            <a:ext cx="3476625" cy="1238250"/>
          </a:xfrm>
          <a:prstGeom prst="roundRect">
            <a:avLst>
              <a:gd name="adj" fmla="val 4615"/>
            </a:avLst>
          </a:prstGeom>
          <a:ln/>
        </p:spPr>
      </p:pic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105775" y="4533900"/>
            <a:ext cx="3476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主题五</a:t>
            </a:r>
            <a:r>
              <a:rPr lang="en-US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 · </a:t>
            </a:r>
            <a:r>
              <a:rPr lang="zh-CN" sz="900">
                <a:solidFill>
                  <a:srgbClr val="0F2438">
                    <a:alpha val="60000"/>
                  </a:srgbClr>
                </a:solidFill>
                <a:latin typeface="Microsoft YaHei"/>
                <a:ea typeface="Microsoft YaHei"/>
              </a:rPr>
              <a:t>模式相关时序约束的拆与合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8105775" y="4733925"/>
            <a:ext cx="3476625" cy="1238250"/>
          </a:xfrm>
          <a:prstGeom prst="rect">
            <a:avLst/>
          </a:prstGeom>
          <a:ln w="12700">
            <a:solidFill>
              <a:srgbClr val="D99B2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0" name=""/>
          <p:cNvPicPr>
            <a:picLocks noChangeAspect="1"/>
          </p:cNvPicPr>
          <p:nvPr/>
        </p:nvPicPr>
        <p:blipFill>
          <a:blip r:embed="rId2"/>
          <a:srcRect l="0" t="21506" r="0" b="21506"/>
          <a:stretch>
            <a:fillRect/>
          </a:stretch>
        </p:blipFill>
        <p:spPr>
          <a:xfrm rot="0" flipH="0" flipV="0">
            <a:off x="8105775" y="4733925"/>
            <a:ext cx="3476625" cy="1238250"/>
          </a:xfrm>
          <a:prstGeom prst="roundRect">
            <a:avLst>
              <a:gd name="adj" fmla="val 4615"/>
            </a:avLst>
          </a:prstGeom>
          <a:ln/>
        </p:spPr>
      </p:pic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2038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TEAM-SHARE-PUBLIC · </a:t>
            </a:r>
            <a:r>
              <a:rPr lang="zh-CN" sz="1050">
                <a:solidFill>
                  <a:srgbClr val="0F2438">
                    <a:alpha val="45000"/>
                  </a:srgbClr>
                </a:solidFill>
                <a:latin typeface="Microsoft YaHei"/>
                <a:ea typeface="Microsoft YaHei"/>
              </a:rPr>
              <a:t>项目复盘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10629900" y="6391275"/>
            <a:ext cx="342900" cy="1905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2438">
                    <a:alpha val="45000"/>
                  </a:srgbClr>
                </a:solidFill>
                <a:latin typeface="Consolas"/>
                <a:ea typeface="Consolas"/>
              </a:rPr>
              <a:t>18 / 19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84" name="" descr="&lt;Slide style={{ width: 1280, height: 720, position: 'relative', background: 'linear-gradient(160deg, #0F2438 0%, #1D3F5C 100%)', padding: '40px 64px', fontFamily: '&quot;Microsoft YaHei&quot;, &quot;PingFang SC&quot;, &quot;Noto Sans SC&quot;, sans-serif' }}&gt;&#10;&#10;  &lt;svg width={1280} height={720} viewBox='0 0 1280 720' style={{ position: 'absolute', top: 0, left: 0 }}&gt;&#10;    {Array.from({ length: 32 }).map((_, i) =&gt; (&#10;      &lt;line key={'v' + i} x1={i * 40} y1={0} x2={i * 40} y2={720} stroke='rgba(217,155,43,0.06)' strokeWidth={1} /&gt;&#10;    ))}&#10;    {Array.from({ length: 18 }).map((_, i) =&gt; (&#10;      &lt;line key={'h' + i} x1={0} y1={i * 40} x2={1280} y2={i * 40} stroke='rgba(217,155,43,0.06)' strokeWidth={1} /&gt;&#10;    ))}&#10;  &lt;/svg&gt;&#10;&#10;  &lt;Box style={{ position: 'absolute', top: 150, left: 64, width: 6, height: 300, background: '#D99B2B' }} /&gt;&#10;&#10;  &lt;Box style={{ position: 'relative', zIndex: 1, height: 640, flexDirection: 'row', gap: 56 }}&gt;&#10;&#10;    &lt;Box style={{ width: 700, flexDirection: 'column', justifyContent: 'space-between' }}&gt;&#10;      &lt;Box style={{ flexDirection: 'column' }}&gt;&#10;        &lt;Text style={{ fontSize: 13, color: '#D99B2B', letterSpacing: 3 }}&gt;ENDING · 结语&lt;/Text&gt;&#10;        &lt;Text style={{ fontSize: 68, fontWeight: 'bold', color: '#F7F4EC', lineHeight: 1.18, marginTop: 24 }}&gt;&#10;          把个人经验&lt;br /&gt;变成团队资产&#10;        &lt;/Text&gt;&#10;        &lt;Box style={{ width: 88, height: 3, background: '#D99B2B', marginTop: 30, marginBottom: 26 }} /&gt;&#10;        &lt;Text style={{ fontSize: 19, color: 'rgba(247,244,236,0.72)', lineHeight: 1.7 }}&gt;&#10;          261 次提交留下的不是记录，而是一套别人能直接复用的东西——&#10;          换项目时照着 SOP 走，排障时照着证据链查，引入新工具时照着踩坑地图走。&#10;        &lt;/Text&gt;&#10;      &lt;/Box&gt;&#10;&#10;      &lt;Box style={{ flexDirection: 'row', gap: 18 }}&gt;&#10;        &lt;Box style={{ flex: 1, background: 'rgba(247,244,236,0.08)', borderRadius: 8, padding: '14px 18px' }}&gt;&#10;          &lt;Text style={{ fontSize: 15, fontWeight: 'bold', color: '#D99B2B' }}&gt;可复用的 SOP&lt;/Text&gt;&#10;          &lt;Text style={{ fontSize: 13, color: 'rgba(247,244,236,0.62)', marginTop: 5 }}&gt;换项目三天压成一天&lt;/Text&gt;&#10;        &lt;/Box&gt;&#10;        &lt;Box style={{ flex: 1, background: 'rgba(247,244,236,0.08)', borderRadius: 8, padding: '14px 18px' }}&gt;&#10;          &lt;Text style={{ fontSize: 15, fontWeight: 'bold', color: '#D99B2B' }}&gt;可检索的手册&lt;/Text&gt;&#10;          &lt;Text style={{ fontSize: 13, color: 'rgba(247,244,236,0.62)', marginTop: 5 }}&gt;流程与脚本一站查齐&lt;/Text&gt;&#10;        &lt;/Box&gt;&#10;        &lt;Box style={{ flex: 1, background: 'rgba(247,244,236,0.08)', borderRadius: 8, padding: '14px 18px' }}&gt;&#10;          &lt;Text style={{ fontSize: 15, fontWeight: 'bold', color: '#D99B2B' }}&gt;可复现的方法&lt;/Text&gt;&#10;          &lt;Text style={{ fontSize: 13, color: 'rgba(247,244,236,0.62)', marginTop: 5 }}&gt;结论都能回溯到证据&lt;/Text&gt;&#10;        &lt;/Box&gt;&#10;      &lt;/Box&gt;&#10;    &lt;/Box&gt;&#10;&#10;    &lt;Box style={{ flex: 1, flexDirection: 'column', justifyContent: 'center' }}&gt;&#10;      &lt;Text style={{ fontSize: 13, color: 'rgba(247,244,236,0.5)', letterSpacing: 2 }}&gt;五大技术主线&lt;/Text&gt;&#10;      &lt;Box style={{ width: 260, height: 1, background: 'rgba(217,155,43,0.4)', marginTop: 18, marginBottom: 24 }} /&gt;&#10;&#10;      &lt;Box style={{ flexDirection: 'column', gap: 20 }}&gt;&#10;        &lt;Box style={{ flexDirection: 'row', gap: 14, alignItems: 'baseline' }}&gt;&#10;          &lt;Text style={{ fontSize: 14, fontWeight: 'bold', color: '#D99B2B', fontFamily: '&quot;Consolas&quot;, &quot;JetBrains Mono&quot;, monospace' }}&gt;01&lt;/Text&gt;&#10;          &lt;Text style={{ fontSize: 15, color: '#F7F4EC' }}&gt;420b 长编码验证体系&lt;/Text&gt;&#10;        &lt;/Box&gt;&#10;        &lt;Box style={{ flexDirection: 'row', gap: 14, alignItems: 'baseline' }}&gt;&#10;          &lt;Text style={{ fontSize: 14, fontWeight: 'bold', color: '#D99B2B', fontFamily: '&quot;Consolas&quot;, &quot;JetBrains Mono&quot;, monospace' }}&gt;02&lt;/Text&gt;&#10;          &lt;Text style={{ fontSize: 15, color: '#F7F4EC' }}&gt;LC_CPUWR 代码修改全记录&lt;/Text&gt;&#10;        &lt;/Box&gt;&#10;        &lt;Box style={{ flexDirection: 'row', gap: 14, alignItems: 'baseline' }}&gt;&#10;          &lt;Text style={{ fontSize: 14, fontWeight: 'bold', color: '#D99B2B', fontFamily: '&quot;Consolas&quot;, &quot;JetBrains Mono&quot;, monospace' }}&gt;03&lt;/Text&gt;&#10;          &lt;Text style={{ fontSize: 15, color: '#F7F4EC' }}&gt;Synthesis &amp;amp; Integration Flow 指南&lt;/Text&gt;&#10;        &lt;/Box&gt;&#10;        &lt;Box style={{ flexDirection: 'row', gap: 14, alignItems: 'baseline' }}&gt;&#10;          &lt;Text style={{ fontSize: 14, fontWeight: 'bold', color: '#D99B2B', fontFamily: '&quot;Consolas&quot;, &quot;JetBrains Mono&quot;, monospace' }}&gt;04&lt;/Text&gt;&#10;          &lt;Text style={{ fontSize: 15, color: '#F7F4EC' }}&gt;Fusion Compiler 引入评估实录&lt;/Text&gt;&#10;        &lt;/Box&gt;&#10;        &lt;Box style={{ flexDirection: 'row', gap: 14, alignItems: 'baseline' }}&gt;&#10;          &lt;Text style={{ fontSize: 14, fontWeight: 'bold', color: '#D99B2B', fontFamily: '&quot;Consolas&quot;, &quot;JetBrains Mono&quot;, monospace' }}&gt;05&lt;/Text&gt;&#10;          &lt;Text style={{ fontSize: 15, color: '#F7F4EC' }}&gt;模式相关时序约束的拆与合&lt;/Text&gt;&#10;        &lt;/Box&gt;&#10;      &lt;/Box&gt;&#10;&#10;      &lt;Box style={{ width: 260, height: 1, background: 'rgba(217,155,43,0.4)', marginTop: 26, marginBottom: 20 }} /&gt;&#10;      &lt;Text style={{ fontSize: 14, color: 'rgba(247,244,236,0.55)', fontFamily: '&quot;Consolas&quot;, &quot;JetBrains Mono&quot;, monospace' }}&gt;ymzhuuuu · 2026.07 — 09&lt;/Text&gt;&#10;    &lt;/Box&gt;&#10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2438"/>
              </a:gs>
              <a:gs pos="100000">
                <a:srgbClr val="1D3F5C"/>
              </a:gs>
            </a:gsLst>
            <a:lin ang="4200000" scaled="1"/>
          </a:gradFill>
          <a:ln/>
        </p:spPr>
        <p:txBody>
          <a:bodyPr/>
          <a:p/>
        </p:txBody>
      </p:sp>
      <p:pic>
        <p:nvPicPr>
          <p:cNvPr id="2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87" name=""/>
          <p:cNvSpPr/>
          <p:nvPr/>
        </p:nvSpPr>
        <p:spPr>
          <a:xfrm rot="0" flipH="0" flipV="0">
            <a:off x="609600" y="1428750"/>
            <a:ext cx="57150" cy="2857500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D99B2B"/>
                </a:solidFill>
                <a:latin typeface="Microsoft YaHei"/>
                <a:ea typeface="Microsoft YaHei"/>
              </a:rPr>
              <a:t>ENDING · </a:t>
            </a:r>
            <a:r>
              <a:rPr lang="zh-CN" sz="975" spc="225">
                <a:solidFill>
                  <a:srgbClr val="D99B2B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609600" y="762000"/>
            <a:ext cx="6667500" cy="183832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把个人经验</a:t>
            </a:r>
            <a:endParaRPr/>
          </a:p>
          <a:p>
            <a:pPr>
              <a:lnSpc>
                <a:spcPct val="118000"/>
              </a:lnSpc>
            </a:pPr>
            <a:r>
              <a:rPr lang="zh-CN" sz="5100" b="1">
                <a:solidFill>
                  <a:srgbClr val="F7F4EC"/>
                </a:solidFill>
                <a:latin typeface="Microsoft YaHei"/>
                <a:ea typeface="Microsoft YaHei"/>
              </a:rPr>
              <a:t>变成团队资产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09600" y="2886075"/>
            <a:ext cx="838200" cy="28575"/>
          </a:xfrm>
          <a:prstGeom prst="rect">
            <a:avLst/>
          </a:prstGeom>
          <a:solidFill>
            <a:srgbClr val="D99B2B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6667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261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次提交留下的不是记录，而是一套别人能直接复用的东西——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换项目时照着</a:t>
            </a:r>
            <a:r>
              <a:rPr lang="en-US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 SOP </a:t>
            </a:r>
            <a:r>
              <a:rPr lang="zh-CN" sz="1425">
                <a:solidFill>
                  <a:srgbClr val="F7F4EC">
                    <a:alpha val="72000"/>
                  </a:srgbClr>
                </a:solidFill>
                <a:latin typeface="Microsoft YaHei"/>
                <a:ea typeface="Microsoft YaHei"/>
              </a:rPr>
              <a:t>走，排障时照着证据链查，引入新工具时照着踩坑地图走。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5838825"/>
            <a:ext cx="2105025" cy="638175"/>
          </a:xfrm>
          <a:prstGeom prst="roundRect">
            <a:avLst>
              <a:gd name="adj" fmla="val 11940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81050" y="59721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9B2B"/>
                </a:solidFill>
                <a:latin typeface="Microsoft YaHei"/>
                <a:ea typeface="Microsoft YaHei"/>
              </a:rPr>
              <a:t>可复用的</a:t>
            </a:r>
            <a:r>
              <a:rPr lang="en-US" sz="1125" b="1">
                <a:solidFill>
                  <a:srgbClr val="D99B2B"/>
                </a:solidFill>
                <a:latin typeface="Microsoft YaHei"/>
                <a:ea typeface="Microsoft YaHei"/>
              </a:rPr>
              <a:t> SOP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81050" y="6191250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换项目三天压成一天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2886075" y="5838825"/>
            <a:ext cx="2114550" cy="638175"/>
          </a:xfrm>
          <a:prstGeom prst="roundRect">
            <a:avLst>
              <a:gd name="adj" fmla="val 11940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3057525" y="59721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9B2B"/>
                </a:solidFill>
                <a:latin typeface="Microsoft YaHei"/>
                <a:ea typeface="Microsoft YaHei"/>
              </a:rPr>
              <a:t>可检索的手册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057525" y="619125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流程与脚本一站查齐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5172075" y="5838825"/>
            <a:ext cx="2105025" cy="638175"/>
          </a:xfrm>
          <a:prstGeom prst="roundRect">
            <a:avLst>
              <a:gd name="adj" fmla="val 11940"/>
            </a:avLst>
          </a:prstGeom>
          <a:solidFill>
            <a:srgbClr val="F7F4EC">
              <a:alpha val="8000"/>
            </a:srgbClr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5343525" y="59721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D99B2B"/>
                </a:solidFill>
                <a:latin typeface="Microsoft YaHei"/>
                <a:ea typeface="Microsoft YaHei"/>
              </a:rPr>
              <a:t>可复现的方法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5343525" y="6191250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7F4EC">
                    <a:alpha val="62000"/>
                  </a:srgbClr>
                </a:solidFill>
                <a:latin typeface="Microsoft YaHei"/>
                <a:ea typeface="Microsoft YaHei"/>
              </a:rPr>
              <a:t>结论都能回溯到证据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7810500" y="2038350"/>
            <a:ext cx="3771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F7F4EC">
                    <a:alpha val="50000"/>
                  </a:srgbClr>
                </a:solidFill>
                <a:latin typeface="Microsoft YaHei"/>
                <a:ea typeface="Microsoft YaHei"/>
              </a:rPr>
              <a:t>五大技术主线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7810500" y="2362200"/>
            <a:ext cx="2476500" cy="9525"/>
          </a:xfrm>
          <a:prstGeom prst="rect">
            <a:avLst/>
          </a:prstGeom>
          <a:solidFill>
            <a:srgbClr val="D99B2B">
              <a:alpha val="40000"/>
            </a:srgbClr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810500" y="2600325"/>
            <a:ext cx="15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9B2B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096250" y="2600325"/>
            <a:ext cx="1390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420b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长编码验证体系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810500" y="2962275"/>
            <a:ext cx="15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9B2B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096250" y="2962275"/>
            <a:ext cx="1800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LC_CPUWR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代码修改全记录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810500" y="3324225"/>
            <a:ext cx="15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9B2B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096250" y="3324225"/>
            <a:ext cx="2295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Synthesis &amp; Integration Flow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指南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810500" y="3686175"/>
            <a:ext cx="15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9B2B"/>
                </a:solidFill>
                <a:latin typeface="Consolas"/>
                <a:ea typeface="Consolas"/>
              </a:rPr>
              <a:t>04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096250" y="3686175"/>
            <a:ext cx="201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7F4EC"/>
                </a:solidFill>
                <a:latin typeface="Microsoft YaHei"/>
                <a:ea typeface="Microsoft YaHei"/>
              </a:rPr>
              <a:t>Fusion Compiler </a:t>
            </a: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引入评估实录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7810500" y="4048125"/>
            <a:ext cx="15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9B2B"/>
                </a:solidFill>
                <a:latin typeface="Consolas"/>
                <a:ea typeface="Consolas"/>
              </a:rPr>
              <a:t>05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096250" y="40481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7F4EC"/>
                </a:solidFill>
                <a:latin typeface="Microsoft YaHei"/>
                <a:ea typeface="Microsoft YaHei"/>
              </a:rPr>
              <a:t>模式相关时序约束的拆与合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7810500" y="4467225"/>
            <a:ext cx="2476500" cy="9525"/>
          </a:xfrm>
          <a:prstGeom prst="rect">
            <a:avLst/>
          </a:prstGeom>
          <a:solidFill>
            <a:srgbClr val="D99B2B">
              <a:alpha val="40000"/>
            </a:srgbClr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810500" y="4667250"/>
            <a:ext cx="3771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7F4EC">
                    <a:alpha val="55000"/>
                  </a:srgbClr>
                </a:solidFill>
                <a:latin typeface="Consolas"/>
                <a:ea typeface="Consolas"/>
              </a:rPr>
              <a:t>ymzhuuuu · 2026.07 — 09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2026-09-10T15:41:11Z</dcterms:created>
  <dcterms:modified xsi:type="dcterms:W3CDTF">2026-09-10T15:41:11Z</dcterms:modified>
</cp:coreProperties>
</file>